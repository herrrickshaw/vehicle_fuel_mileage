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DME, Done Right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dimethyl ether for LPG blending — commercial segment first, energy-parity pricing always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pitch · July 2026 · built on the Volume Dividend fourth-quadrant analysis, LERC engineering evidence and BIS IS 18698:2024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setup: a huge import bill and a freshly opened standard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a trap that will kill naive DME programmes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₹90,000+ cr of LPG imports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imports ~62% of its 29.7-MMT LPG pool — propane/butane priced off the Saudi CP, dollar-denominated, geopolitically exposed. Every blending programme starts from this bill.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288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 is open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560320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IS 18698:2024 permits up to 20% DME in LPG. LERC (LPG Equipment Research Centre, Bengaluru) has cleared 20% material compatibility and run stable flex-burner trials — the engineering is done.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6459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288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(our own analysis)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2560320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 carries 37% less energy per kg. On subsidised domestic cylinders at unchanged prices, DME20 bills households +₹312/yr AND adds ₹1,201 cr/yr of PMUY subsidy — a programme designed that way dies politically. The pitch is built NOT to be that programme.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LERC's measured thermal-efficiency drop at DME20 is −5.26% (IS 4246) — real but manageable IF the pricing is honest; the venture's entire design flows from that condition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guardrails ARE the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self-imposed conditions that make the venture durable where naive DME dies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3749040"/>
          </a:xfrm>
          <a:prstGeom prst="roundRect">
            <a:avLst>
              <a:gd name="adj" fmla="val 2025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Energy-parity pricing, always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 sells at LPG price × 28.8/45.8 (~0.63× per kg). The buyer pays for energy, not kilograms. This forgoes the ₹34.7/kg 'temptation margin' — which is precisely the consumer's hidden loss and the programme's political poison.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611880" cy="3749040"/>
          </a:xfrm>
          <a:prstGeom prst="roundRect">
            <a:avLst>
              <a:gd name="adj" fmla="val 2025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28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Commercial LPG first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0" y="260604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19-kg commercial cylinder is price-DEREGULATED and unsubsidised: parity pricing is a private negotiation, not a subsidy fight. The PMUY inversion never arises. Domestic kitchens only after parity cylinder pricing is regulated 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645920"/>
            <a:ext cx="3611880" cy="3749040"/>
          </a:xfrm>
          <a:prstGeom prst="roundRect">
            <a:avLst>
              <a:gd name="adj" fmla="val 2025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28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Domestic carbon only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12480" y="260604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Imported-methanol DME earns ₹1.9/kg at honest pricing — it fails, and merely re-denominates the import bill. The venture runs on domestic coal-gasification / bio-methanol under long-term contract, or it does not run.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715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as moat: a venture that cannot be accused of the fourth-quadrant harm is the one regulators let scale — the same durability logic as CBG's on-budget stack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wedge: commercial &amp; industrial LPG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Unsubsidised, deregulated, price-sensitive buyers — hotels, restaurants, industry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8328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00200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931920" y="1600200"/>
            <a:ext cx="182880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05072" y="16002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(MMT/yr)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760720" y="1600200"/>
            <a:ext cx="219456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33872" y="160020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DME20 ceiling (kt DME)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600200"/>
            <a:ext cx="3703320" cy="548640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8432" y="1600200"/>
            <a:ext cx="3557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167128"/>
            <a:ext cx="338328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67128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(19-kg) + industrial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31920" y="2167128"/>
            <a:ext cx="182880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05072" y="216712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~4.5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60720" y="2167128"/>
            <a:ext cx="219456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216712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55280" y="2167128"/>
            <a:ext cx="3703320" cy="548640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8432" y="2167128"/>
            <a:ext cx="3557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deregulated; parity = commercial discount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734056"/>
            <a:ext cx="3383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73405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Auto-LPG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931920" y="2734056"/>
            <a:ext cx="1828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05072" y="273405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760720" y="2734056"/>
            <a:ext cx="21945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2734056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55280" y="2734056"/>
            <a:ext cx="3703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2734056"/>
            <a:ext cx="3557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niche; elastomer retrofit known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300984"/>
            <a:ext cx="338328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300984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(14.2-kg, PMUY)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931920" y="3300984"/>
            <a:ext cx="182880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05072" y="3300984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760720" y="3300984"/>
            <a:ext cx="219456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3872" y="3300984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955280" y="3300984"/>
            <a:ext cx="3703320" cy="548640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28432" y="3300984"/>
            <a:ext cx="3557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until parity pricing is regulated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41148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buyer's math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" y="47091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DME20 at energy parity cuts the effective ₹/MJ of a hotel's fuel bill ~2–3% (blender passes part of the DME discount)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burners; elastomer swap per LERC compatibility list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17920" y="411480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with today's standard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46520" y="470916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C&amp;I DME20 ceiling ≈ 0.9–1.1 MMT DME/yr = 27–33 plants of the reference size — years of runway before the domestic segment is even needed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model: the simple step in the chain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100-TPD methanol-to-DME dehydration plant, co-located with domestic methanol capacity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8288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methanol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2395728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coal-gasification / bio-methanol, long-term contract ₹15–17/kg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15184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34640" y="1691640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4368" y="18288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Dehydration unit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44368" y="2395728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catalytic (alumina) — proven, simple; the ₹120 cr asset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01184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20640" y="1691640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18288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 storage &amp; loading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30368" y="2395728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LPG-like handling; pressurised spheres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87184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06640" y="1691640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6368" y="18288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/ marketer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16368" y="2395728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OMC &amp; parallel marketers blend ≤20% per IS 18698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73184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92640" y="1691640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02368" y="18288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C&amp;I customer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802368" y="2395728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19-kg cylinders &amp; bulk — energy-parity billed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11109960" cy="2286000"/>
          </a:xfrm>
          <a:prstGeom prst="roundRect">
            <a:avLst>
              <a:gd name="adj" fmla="val 3200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Per-kg economics at the three postures (₹/kg)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4526280"/>
            <a:ext cx="3429000" cy="40233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4526280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06240" y="4526280"/>
            <a:ext cx="1645920" cy="40233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9392" y="452628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852160" y="4526280"/>
            <a:ext cx="2011680" cy="40233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25312" y="452628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feed (1.4×)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863840" y="4526280"/>
            <a:ext cx="1554480" cy="40233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36992" y="452628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418320" y="4526280"/>
            <a:ext cx="1828800" cy="40233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91472" y="452628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77240" y="4946904"/>
            <a:ext cx="3429000" cy="40233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" y="4946904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domestic methanol, parity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206240" y="4946904"/>
            <a:ext cx="1645920" cy="40233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79392" y="4946904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39.0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852160" y="4946904"/>
            <a:ext cx="2011680" cy="40233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25312" y="494690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(23.8)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863840" y="4946904"/>
            <a:ext cx="1554480" cy="40233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36992" y="494690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(3.5)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418320" y="4946904"/>
            <a:ext cx="1828800" cy="40233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91472" y="4946904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77240" y="5367528"/>
            <a:ext cx="34290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" y="5367528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methanol (fails)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206240" y="5367528"/>
            <a:ext cx="16459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79392" y="5367528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39.0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852160" y="5367528"/>
            <a:ext cx="20116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25312" y="536752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(33.6)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863840" y="5367528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36992" y="536752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(3.5)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9418320" y="5367528"/>
            <a:ext cx="18288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91472" y="5367528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777240" y="5788152"/>
            <a:ext cx="3429000" cy="402336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0392" y="5788152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kg-parity pricing (refused)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4206240" y="5788152"/>
            <a:ext cx="1645920" cy="402336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79392" y="578815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62.0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5852160" y="5788152"/>
            <a:ext cx="2011680" cy="402336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25312" y="578815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(23.8)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7863840" y="5788152"/>
            <a:ext cx="1554480" cy="402336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36992" y="578815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(3.5)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9418320" y="5788152"/>
            <a:ext cx="1828800" cy="402336"/>
          </a:xfrm>
          <a:prstGeom prst="rect">
            <a:avLst/>
          </a:prstGeom>
          <a:solidFill>
            <a:srgbClr val="16523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491472" y="5788152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34.7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Financials: honest pricing still clears 26%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₹120 cr capex · 70:30 @ 10% (no subvention assumed) · 29.7 kt DME/yr · energy-parity realisation ₹39/kg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916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26.0%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58368" y="2386584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IRR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6002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4368" y="16916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42.1%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944368" y="2386584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IRR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6002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16916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₹106 cr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230368" y="2386584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@ 12%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6002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16368" y="16916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3A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4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516368" y="2386584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92640" y="16002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2368" y="16916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3A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1.94×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802368" y="2386584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DSCR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— project IRR (%): methanol price × DME realisation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2103120" cy="49377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703320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₹/kg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651760" y="3703320"/>
            <a:ext cx="2103120" cy="49377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3703320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₹36/kg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2103120" cy="49377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703320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₹39/kg (parity, base)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0" y="3703320"/>
            <a:ext cx="2103120" cy="49377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3703320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₹42/kg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15384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215384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15,000/t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651760" y="4215384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24912" y="4215384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54880" y="4215384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215384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0" y="4215384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4215384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39.0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4727448"/>
            <a:ext cx="21031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727448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17,000/t (base)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651760" y="4727448"/>
            <a:ext cx="21031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24912" y="4727448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54880" y="4727448"/>
            <a:ext cx="21031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4727448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858000" y="4727448"/>
            <a:ext cx="21031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31152" y="4727448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32.9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5239512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5239512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20,000/t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651760" y="5239512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24912" y="5239512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754880" y="5239512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5239512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858000" y="5239512"/>
            <a:ext cx="210312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31152" y="5239512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9326880" y="3291840"/>
            <a:ext cx="2331720" cy="2514600"/>
          </a:xfrm>
          <a:prstGeom prst="roundRect">
            <a:avLst>
              <a:gd name="adj" fmla="val 3137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09760" y="3474720"/>
            <a:ext cx="1965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model rides on the methanol contract: ₹20/kg methanol compresses IRR to 15.6% — the feed contract IS the investment decision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48640" y="5897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subvention assumed — a DME-specific interest-subvention analogue (the ethanol ISS template) is pure upside; EBITDA ₹34.7 cr/yr at base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mitigants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 our own fourth-quadrant analysis — answered structurally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28800" cy="713232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5448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77440" y="1554480"/>
            <a:ext cx="3108960" cy="713232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0592" y="155448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0" y="1554480"/>
            <a:ext cx="6172200" cy="713232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59552" y="1554480"/>
            <a:ext cx="6025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82880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8600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supply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377440" y="2286000"/>
            <a:ext cx="310896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228600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coal/bio-methanol capacity is nascent; market methanol is imported ₹24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0" y="2286000"/>
            <a:ext cx="617220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2286000"/>
            <a:ext cx="6025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Co-location + take-or-pay with Coal India/BHEL-route projects; venture gated on the contract, not built ahead of 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828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01752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Elastomer retrofit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77440" y="3017520"/>
            <a:ext cx="3108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301752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 attacks conventional seals beyond ~20%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0" y="3017520"/>
            <a:ext cx="6172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9552" y="3017520"/>
            <a:ext cx="6025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≤20% per IS 18698; LERC compatibility list is the binding spec; retrofit kits funded at blender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182880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74904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adoption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377440" y="3749040"/>
            <a:ext cx="310896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0592" y="374904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C&amp;I buyers must accept a blended product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0" y="3749040"/>
            <a:ext cx="617220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59552" y="3749040"/>
            <a:ext cx="6025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Energy-parity billing makes the buyer strictly better off; pilot with 2 parallel marketers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1828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48056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drift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377440" y="4480560"/>
            <a:ext cx="3108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448056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to push into subsidised domestic LPG at kg prices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0" y="4480560"/>
            <a:ext cx="6172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9552" y="4480560"/>
            <a:ext cx="6025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commitment: domestic segment only under regulated parity pricing — the refusal is contractual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182880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521208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CP swings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377440" y="5212080"/>
            <a:ext cx="310896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50592" y="521208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realisation moves with LPG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0" y="5212080"/>
            <a:ext cx="617220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5212080"/>
            <a:ext cx="6025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methanol-linked, not CP-linked, at ~63% pass-through; hedge on the spread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relying on: subvention, carbon credits, domestic-kitchen volumes, or any pricing above energy parity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Landscape: technology proven, field empty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blends DME-LPG at scale; India has the standard but no supply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precedent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246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has blended DME into LPG at multi-MMT scale for two decades (the cautionary tales are all kg-parity mis-selling — our guardrail #1 exists because of them). Korea/Japan ran fleet and burner programmes.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288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building blocks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3246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NCL Pune has demonstrated DME synthesis; IOCL R&amp;D active; Assam Petrochemicals and GNFC hold methanol capacity; Coal India–BHEL coal-to-methanol projects are the feed pipeline. Nobody has assembled the chain.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6459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288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reality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2377440"/>
            <a:ext cx="3246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a 20% standard (IS 18698:2024), LERC-cleared equipment evidence, a ₹90,000-cr import bill — and zero commercial DME blending. The venture IS the market at inception.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with the bioenergy platform: bio-methanol/bio-DME from CBG-adjacent syngas is the long-run domestic-carbon route — same feedstock ecosystems, same partners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one gated pilot, then replicate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₹120 cr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3268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plant (₹36 cr equity)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8444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29.7 kt/yr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358444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 = ~150 kt DME20 comm. LPG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620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 / 42%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23620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/ equity IRR at parity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7824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8796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27–33×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88796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ceiling in C&amp;I alone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(pre-capex): 10-yr take-or-pay domestic methanol contract at ≤₹17/kg — no contract, no build; site co-located with the methanol plant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2: blending MoU with two parallel marketers / one OMC for C&amp;I DME20 at energy-parity transfer pricing; LERC-listed retrofit kits at the bottling plant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(15 months) → prove the honest-pricing P&amp;L publicly → replicate toward the ~30-plant C&amp;I ceiling; domestic kitchens only when parity cylinder pricing is regulated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fund the constrained version: the unconstrained margin (₹34.7/kg at kg-parity) is exactly what makes naive DME uninvestable — this structure is the one that survives scrutiny, scale and time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sensitivity: dme_pitch_model.py · analysis: dme_lpg_blending.py (LERC basis) · The Volume Dividend §10 · github.com/herrrickshaw/india-omc-fuel-fleet-model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DME Blending — Investment Pitch</dc:title>
  <dc:subject>PptxGenJS Presentation</dc:subject>
  <dc:creator>india-omc-fuel-fleet-model</dc:creator>
  <cp:lastModifiedBy>india-omc-fuel-fleet-model</cp:lastModifiedBy>
  <cp:revision>1</cp:revision>
  <dcterms:created xsi:type="dcterms:W3CDTF">2026-07-28T12:56:39Z</dcterms:created>
  <dcterms:modified xsi:type="dcterms:W3CDTF">2026-07-28T12:56:39Z</dcterms:modified>
</cp:coreProperties>
</file>