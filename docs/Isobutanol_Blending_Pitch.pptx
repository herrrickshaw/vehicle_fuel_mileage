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Better Molecule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Bio-isobutanol for petrol blending and aviation fuel — half of ethanol's mileage penalty, 25% more jet per tonne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pitch · July 2026 · built on the Volume Dividend energy analysis, ICAO ATJ conversion factors and the DFPD/CareEdge capacity picture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problems ethanol cannot solve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blending programme is hitting a molecule limit, not a capacity limit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mileage wall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Ethanol's −34%/L energy deficit is the whole Volume Dividend: E20 already costs drivers ₹22,700 cr/yr in extra litres, and E30 doubles it. Engines are calibrated for E20 — the octane offset is spent. Every further ethanol point is a bigger hidden levy.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28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overcapacity trap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6060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 cr L of distillery capacity chasing ~1,100 cr L of E20 demand; only ~60% of offered ethanol absorbed; utilisation stuck at 65–75% for three years (CareEdge). More ethanol capacity is the last thing India needs.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6459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828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third: aviation has no ethanol answer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26060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mandates arrive from 2027. Ethanol-to-jet wastes carbon: 0.60 t distillate per tonne. The alcohol India has surplus of is the wrong alcohol for the market that is about to be created.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fermentation assets can make a different, better molecule — that is the entire thesis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Isobutanol: a C4 alcohol that behaves like petrol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sugar, same fermenters, different organism — and materially better fuel properties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54864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54480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0" y="1554480"/>
            <a:ext cx="1645920" cy="54864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73552" y="155448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554480"/>
            <a:ext cx="1645920" cy="54864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55448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Isobutanol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0" y="1554480"/>
            <a:ext cx="5166360" cy="54864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554480"/>
            <a:ext cx="5020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121408"/>
            <a:ext cx="265176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121408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MJ/L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0" y="2121408"/>
            <a:ext cx="164592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2121408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0" y="2121408"/>
            <a:ext cx="164592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2121408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2121408"/>
            <a:ext cx="516636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2121408"/>
            <a:ext cx="5020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+26% per litre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2688336"/>
            <a:ext cx="2651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688336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dilution at 20%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0" y="2688336"/>
            <a:ext cx="16459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2688336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−6.9%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46320" y="2688336"/>
            <a:ext cx="16459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688336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−3.5%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2688336"/>
            <a:ext cx="5166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2688336"/>
            <a:ext cx="5020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mileage penalty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255264"/>
            <a:ext cx="2651760" cy="548640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255264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ATJ / SAF yield (t per t)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200400" y="3255264"/>
            <a:ext cx="1645920" cy="548640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3255264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846320" y="3255264"/>
            <a:ext cx="1645920" cy="548640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255264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92240" y="3255264"/>
            <a:ext cx="5166360" cy="548640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3255264"/>
            <a:ext cx="5020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more jet fuel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3822192"/>
            <a:ext cx="2651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382219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miscible?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200400" y="3822192"/>
            <a:ext cx="16459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73552" y="3822192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846320" y="3822192"/>
            <a:ext cx="16459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3822192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492240" y="3822192"/>
            <a:ext cx="5166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3822192"/>
            <a:ext cx="5020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pipeline-shippable, no phase separation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4389120"/>
            <a:ext cx="265176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4389120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 vapour pressure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3200400" y="4389120"/>
            <a:ext cx="164592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73552" y="438912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RVP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846320" y="4389120"/>
            <a:ext cx="164592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438912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/ lowers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492240" y="4389120"/>
            <a:ext cx="516636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65392" y="4389120"/>
            <a:ext cx="5020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summer-grade compliance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48640" y="51206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" y="53035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IB20 delivers the same 20% renewable volume at 3.5% dilution instead of 6.9% — the consumer keeps half the energy ethanol takes away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217920" y="51206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46520" y="53035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lab curiosity: Gevo and Butamax have run commercial retrofits abroad; the chemistry, the ASTM D7566 ATJ pathway and the engine data all exist. India has none.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that stops everything: no price, no standard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has six administered slabs and a BIS blending standard. Isobutanol has neither.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91840" cy="54864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5448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840480" y="1554480"/>
            <a:ext cx="3657600" cy="54864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1554480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0" y="1554480"/>
            <a:ext cx="4160520" cy="54864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71232" y="1554480"/>
            <a:ext cx="4014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Isobutanol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121408"/>
            <a:ext cx="329184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12140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Administered OMC price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40480" y="2121408"/>
            <a:ext cx="365760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212140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feedstock slabs (₹57.97 – ₹71.86/L)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0" y="2121408"/>
            <a:ext cx="416052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71232" y="2121408"/>
            <a:ext cx="4014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688336"/>
            <a:ext cx="3291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688336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blending standard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840480" y="2688336"/>
            <a:ext cx="3657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13632" y="2688336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15464 / IS 2796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98080" y="2688336"/>
            <a:ext cx="4160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1232" y="2688336"/>
            <a:ext cx="4014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255264"/>
            <a:ext cx="329184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255264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subvention (DFPD ISS)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840480" y="3255264"/>
            <a:ext cx="365760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13632" y="3255264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6%, 1,212 projects sanctioned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98080" y="3255264"/>
            <a:ext cx="416052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3255264"/>
            <a:ext cx="4014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eligible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822192"/>
            <a:ext cx="3291840" cy="548640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8221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840480" y="3822192"/>
            <a:ext cx="3657600" cy="548640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13632" y="3822192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1,970 cr L built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498080" y="3822192"/>
            <a:ext cx="4160520" cy="548640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71232" y="3822192"/>
            <a:ext cx="4014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litres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4224528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to policy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" y="47548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isobutanol on ENERGY, not litres: parity with the maize ethanol slab = ₹90.3/L. We ask ₹88 — below parity, so the OMC buys renewable energy cheaper than it does today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217920" y="4224528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per-litre pricing kills it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46520" y="475488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Isobutanol yields ~280 L/t of maize vs ethanol's ~400. Paid at ethanol's per-LITRE slab the margin is −₹9.58/L — a guaranteed loss. Energy-basis pricing is not a subsidy; it is the correct unit.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model: retrofit idle ethanol capacity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100-KLPD grain distillery → 70 KLPD isobutanol · ₹80 cr retrofit · the overcapacity IS the opportunity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47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ethanol asset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60–75%; allocation-starved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72968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847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organism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6160" y="2423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pathway in existing fermenters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53328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847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Decanter separation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2423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isobutanol splits from water — no azeotrope distillation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33688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89720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1847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markets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326880" y="2423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blending + ATJ/SAF offtake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Per-litre economics (₹/L)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3891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 88.00 − maize 82.14 (₹23,000/t ÷ 280 L/t) + DDGS 18.70 − conversion 18.00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₹6.56/L margin → EBITDA ₹13.6 cr on blending alone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cost is higher than ethanol's (₹18 vs ₹13): separation is the price of a non-azeotropic alcohol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79476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then the SAF leg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4389120"/>
            <a:ext cx="4983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30% of output to an ATJ offtaker at ₹115/L lifts blended realisation to ₹96/L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₹14.66/L, EBITDA ₹30.5 cr — the same plant, a different customer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SAF mandate (1–2% from 2027) creates the captive buyer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Financials: blending alone is marginal — SAF makes it a business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 cr retrofit · 70:30 @ 9.5% · NO subvention assumed (isobutanol is not ISS-eligible)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54864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0020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routed to ATJ/SAF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840480" y="1600200"/>
            <a:ext cx="2194560" cy="54864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160020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realisation ₹/L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1600200"/>
            <a:ext cx="1645920" cy="54864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08192" y="16002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₹/L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80960" y="1600200"/>
            <a:ext cx="1645920" cy="54864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54112" y="16002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₹ cr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326880" y="1600200"/>
            <a:ext cx="1965960" cy="54864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00032" y="160020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IRR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167128"/>
            <a:ext cx="329184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1671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— blending only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840480" y="2167128"/>
            <a:ext cx="219456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216712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2167128"/>
            <a:ext cx="164592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08192" y="2167128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6.56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80960" y="2167128"/>
            <a:ext cx="164592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54112" y="2167128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326880" y="2167128"/>
            <a:ext cx="196596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0032" y="2167128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2734056"/>
            <a:ext cx="3291840" cy="548640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2734056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— base case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840480" y="2734056"/>
            <a:ext cx="2194560" cy="548640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13632" y="2734056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35040" y="2734056"/>
            <a:ext cx="1645920" cy="548640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2734056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14.66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680960" y="2734056"/>
            <a:ext cx="1645920" cy="548640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54112" y="2734056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326880" y="2734056"/>
            <a:ext cx="1965960" cy="548640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00032" y="2734056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33.9%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3300984"/>
            <a:ext cx="329184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300984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— SAF-led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840480" y="3300984"/>
            <a:ext cx="219456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13632" y="3300984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101.5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035040" y="3300984"/>
            <a:ext cx="164592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08192" y="3300984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20.06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680960" y="3300984"/>
            <a:ext cx="164592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54112" y="3300984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41.7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326880" y="3300984"/>
            <a:ext cx="196596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00032" y="3300984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45.6%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— project IRR (%): maize price × isobutanol realisation (blending only, no SAF)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8640" y="4389120"/>
            <a:ext cx="2103120" cy="45720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438912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₹/t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651760" y="4389120"/>
            <a:ext cx="2103120" cy="45720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24912" y="438912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₹80/L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754880" y="4389120"/>
            <a:ext cx="2103120" cy="45720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438912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₹88/L (ask)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858000" y="4389120"/>
            <a:ext cx="2103120" cy="45720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31152" y="438912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₹96/L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48640" y="4864608"/>
            <a:ext cx="2103120" cy="45720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" y="486460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2651760" y="4864608"/>
            <a:ext cx="2103120" cy="45720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24912" y="486460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21.1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4754880" y="4864608"/>
            <a:ext cx="2103120" cy="45720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486460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39.6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6858000" y="4864608"/>
            <a:ext cx="2103120" cy="45720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31152" y="486460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56.4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548640" y="5340096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1792" y="5340096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23,000 (base)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2651760" y="5340096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24912" y="5340096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4754880" y="5340096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28032" y="5340096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6858000" y="5340096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31152" y="5340096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548640" y="5815584"/>
            <a:ext cx="2103120" cy="45720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1792" y="581558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26,000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2651760" y="5815584"/>
            <a:ext cx="2103120" cy="45720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24912" y="581558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4754880" y="5815584"/>
            <a:ext cx="2103120" cy="45720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28032" y="581558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858000" y="5815584"/>
            <a:ext cx="2103120" cy="45720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31152" y="581558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250" dirty="0"/>
          </a:p>
        </p:txBody>
      </p:sp>
      <p:sp>
        <p:nvSpPr>
          <p:cNvPr id="77" name="Shape 75"/>
          <p:cNvSpPr/>
          <p:nvPr/>
        </p:nvSpPr>
        <p:spPr>
          <a:xfrm>
            <a:off x="9326880" y="3977640"/>
            <a:ext cx="2331720" cy="2286000"/>
          </a:xfrm>
          <a:prstGeom prst="roundRect">
            <a:avLst>
              <a:gd name="adj" fmla="val 3200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509760" y="4160520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'loss' cells honestly: without energy-basis pricing AND cheap grain, blending-only isobutanol does not work. The SAF leg is what carries it.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mitigants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technology-and-policy bet — we say so plainly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737360" cy="73152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5448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0" y="1554480"/>
            <a:ext cx="3108960" cy="73152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9152" y="155448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94960" y="1554480"/>
            <a:ext cx="6263640" cy="73152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68112" y="1554480"/>
            <a:ext cx="6117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1737360" cy="73152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304288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(the big one)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286000" y="2304288"/>
            <a:ext cx="3108960" cy="73152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230428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Indian bio-isobutanol plant operates; yield 280 L/t and ₹18/L conversion are the least certain numbers here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394960" y="2304288"/>
            <a:ext cx="6263640" cy="73152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2304288"/>
            <a:ext cx="6117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a proven organism (Gevo/Butamax-class); pilot train before full retrofit; capex staged on demonstrated yield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54096"/>
            <a:ext cx="1737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054096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slab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286000" y="3054096"/>
            <a:ext cx="3108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9152" y="3054096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at ethanol's per-litre slab the margin is −₹9.58/L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394960" y="3054096"/>
            <a:ext cx="62636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3054096"/>
            <a:ext cx="6117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Energy-basis pricing is the pre-condition, not a hope: no notification, no capex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803904"/>
            <a:ext cx="1737360" cy="73152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803904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BIS standard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286000" y="3803904"/>
            <a:ext cx="3108960" cy="73152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3803904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15464 covers ethanol only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394960" y="3803904"/>
            <a:ext cx="6263640" cy="73152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68112" y="3803904"/>
            <a:ext cx="6117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ask filed alongside the price ask; ASTM D7566 + global engine data support it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553712"/>
            <a:ext cx="1737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4553712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timing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286000" y="4553712"/>
            <a:ext cx="3108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9152" y="4553712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1–2% mandate lands 2027; ATJ offtakes are nascent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394960" y="4553712"/>
            <a:ext cx="62636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8112" y="4553712"/>
            <a:ext cx="6117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Blending-only case still positive (13.8%) at base — SAF is upside, not survival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303520"/>
            <a:ext cx="1737360" cy="73152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530352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Feedstock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286000" y="5303520"/>
            <a:ext cx="3108960" cy="73152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59152" y="530352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maize exposure as any grain distillery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394960" y="5303520"/>
            <a:ext cx="6263640" cy="73152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5303520"/>
            <a:ext cx="6117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Multi-feed front end retained; DDGS credit larger per litre than ethanol's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claiming: ISS eligibility, carbon credits, or that this is as bankable as a molasses-to-grain conversion (it is not — it is the higher-return, higher-risk sibling)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Landscape: proven abroad, absent in India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the gap between India's SAF mandate and its ethanol glut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holders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Gevo (US) and Butamax (BP/DuPont JV) have operated commercial isobutanol retrofits of corn-ethanol plants — the exact play proposed here. Licensing, not invention, is the route 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28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adjacency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331720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Praj has an ATJ/SAF programme and builds the distilleries; IOCL and Indian Oil–LanzaJet activity signals OMC appetite for alcohol-to-jet; the 2027 SAF mandate is the demand anchor.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64592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828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2331720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900+ cr L of idle distillery capacity, a maize-slab price that already tolerates ₹71.86/L alcohol, and no isobutanol at all. First mover sets the standard and the slab.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the platform logic of the other pitches: CBG monetises waste carbon, multi-feed conversion monetises seasonality — isobutanol monetises the ethanol glut by turning surplus fermentation into a higher-value molecule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ask: one licensed pilot, gated on policy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6459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₹80 cr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32688" y="234086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(₹24 cr equity)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84448" y="16459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kt/yr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3584448" y="234086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isobutanol from idle capacity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6208" y="16459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33.9%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236208" y="234086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IRR at 30% SAF routing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7824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87968" y="16459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asks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887968" y="234086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energy-basis slab + BIS standard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38328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(policy): an energy-basis OMC price notification for isobutanol (₹88/L against the ₹90.3 parity) and a BIS blending specification — no notification, no capex. This is the pitch's honest precondition, and the reason nothing exists today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(technology): licence a proven organism and demonstrate ≥280 L/t on Indian maize in a pilot train before the full ₹80 cr retrofit is drawn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one ATJ/SAF offtake for 30% of output; replicate across the idle grain-distillery fleet — the same 900+ cr L of stranded capacity the ethanol overcapacity analysis identifies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back the harder molecule: it is the only route that raises blending WITHOUT raising the consumer's hidden levy, and the only alcohol that gives aviation 25% more fuel per tonne of Indian carbon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sensitivity: isobutanol_pitch_model.py · energy analysis: energy_blend_comparison.py · The Volume Dividend · github.com/herrrickshaw/india-omc-fuel-fleet-model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Bio-Isobutanol Blending — Investment Pitch</dc:title>
  <dc:subject>PptxGenJS Presentation</dc:subject>
  <dc:creator>india-omc-fuel-fleet-model</dc:creator>
  <cp:lastModifiedBy>india-omc-fuel-fleet-model</cp:lastModifiedBy>
  <cp:revision>1</cp:revision>
  <dcterms:created xsi:type="dcterms:W3CDTF">2026-07-28T13:26:36Z</dcterms:created>
  <dcterms:modified xsi:type="dcterms:W3CDTF">2026-07-28T13:26:36Z</dcterms:modified>
</cp:coreProperties>
</file>