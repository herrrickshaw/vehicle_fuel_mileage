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Compressed Biogas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on-budget decarbonisation play — mandated demand, assured pricing, three revenue legs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pitch · July 2026 · built on the Volume Dividend research stack (SATAT economics, supply match, GOBARdhan circular register, reference-plant model)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imports, wasted biomass, dishonest blends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converging failures CBG monetises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molecules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CGD growth rides on spot RLNG (~$12/MMBtu, ₹0.94/MJ). Every kg of CNG demand growth is an import at the margin — price-volatile, dollar-denominated.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feedstock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331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Press-mud, cattle dung, paddy straw and municipal waste are burned or dumped: stubble smoke, methane emissions, and a disposal cost — negative-value feedstock waiting for a digester.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4592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liquid-biofuel trap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0" y="2331720"/>
            <a:ext cx="3246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ethanol route funds decarbonisation through a hidden consumer levy (−4% mileage at unchanged price = ₹22,700 cr/yr) and now faces distillery overcapacity (59% utilisation). CBG has neither problem: energy parity per kg, on-budget support.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converts a waste liability into a gas molecule that is legally fungible with CNG (IS 16087:2025) — sold per kg at energy parity, no mileage penalty, no volumetric pass-through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undercuts imported LNG outright whenever spot runs above ~$14.8/MMBtu — the import-substitution case stands on its own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market: demand is mandated, supply is missing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Blending Obligation (CBO) on city-gas distributors — demand by decree, stepping 1% → 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53035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0020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600200"/>
            <a:ext cx="1737360" cy="53035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160020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CBO share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0" y="1600200"/>
            <a:ext cx="2743200" cy="53035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160020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needed (t/yr)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0" y="1600200"/>
            <a:ext cx="3108960" cy="53035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1600200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value (₹ cr/yr)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2286000" cy="53035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4884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FY25-26 (live)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834640" y="2148840"/>
            <a:ext cx="1737360" cy="53035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214884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1%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0" y="2148840"/>
            <a:ext cx="2743200" cy="53035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214884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66,700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0" y="2148840"/>
            <a:ext cx="3108960" cy="53035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88352" y="2148840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378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697480"/>
            <a:ext cx="22860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697480"/>
            <a:ext cx="2139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FY28-29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834640" y="2697480"/>
            <a:ext cx="17373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07792" y="269748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~5%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0" y="2697480"/>
            <a:ext cx="2743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2697480"/>
            <a:ext cx="25968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333,500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315200" y="2697480"/>
            <a:ext cx="3108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88352" y="2697480"/>
            <a:ext cx="29626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1,891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…on the 6.67-MMT CNG(T) pool alone — PNG (domestic) obligations add further demand on top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is nowhere near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5262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SATAT envisioned 5,000 plants; a few hundred are commissioned — the obligation ramp outruns the build-out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12-TPD plant supplies ~4,000 t/yr: the 5% CBO alone needs ~85 such plants' output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393192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floor + import ceiling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46520" y="452628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SATAT assures ₹54/kg ex-plant (+5% GST); synchronization scheme injects straight into the CGD grid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at ₹1.16/MJ vs ethanol's ₹2.94 — CBG is the CHEAPEST renewable molecule India buys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moat: 70 circulars de-risk every leg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GOBARdhan register, ~half dated 2025-26 — the cadence is accelerating, all support on-budget and ex-plant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7335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Offtake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286000" y="1673352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SATAT ₹54/kg assured · CBO mandate · CGD grid injection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82512" y="167335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0" y="1673352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MNRE CFA (up to ₹10 cr/plant) · SBM 2.0 VGF · SASCI state capital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807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286000" y="2807208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scheme funds the plant-to-grid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734056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807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55280" y="2807208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Biomass machinery assistance · crop-residue channelling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67912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94106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286000" y="3941064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FCO Schedule VIII fertiliser status · bulk-sale rights · MDA ~₹1,500/t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67912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82512" y="394106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0" y="3941064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priority-sector lending · AIF · AHIDF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001768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5074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&amp; carbon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286000" y="5074920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GST · excise exemption on blended CNG · carbon-credit eligibility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5001768"/>
            <a:ext cx="5440680" cy="1024128"/>
          </a:xfrm>
          <a:prstGeom prst="roundRect">
            <a:avLst>
              <a:gd name="adj" fmla="val 714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507492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55280" y="5074920"/>
            <a:ext cx="3566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state policies + MoPNG model template (2026)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621792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23620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Indian infrastructure class has assured price + mandated demand + subsidised capex + priority debt + a regulated second product — simultaneously.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model: one digester, three revenue legs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plant: 12 TPD CBG · 250 TPD multi-feedstock (press-mud + agri-residue) · 330 days · 90% steady utilisation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— ₹19.2 cr/yr (77%)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3,564 t CBG @ SATAT ₹54/kg, injected into the CGD grid (DPI pipeline). CBO makes the buyer's demand mandatory.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470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FERTILISER — ₹2.2 cr/yr (9%)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0" y="2377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14,850 t FOM under FCO Schedule VIII @ ₹1,500/t net (incl. MDA). Bulk-sale rights direct to farmers.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11880" cy="2377440"/>
          </a:xfrm>
          <a:prstGeom prst="roundRect">
            <a:avLst>
              <a:gd name="adj" fmla="val 3077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47088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— ₹0.7 cr/yr (3%)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3246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~8,900 credits/yr @ ₹800 (2.5 tCO2e/t CBG). MoEFCC-recognised eligibility; upside under CCTS.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₹10.1 cr/yr (feedstock ₹700/t delivered + ₹5 cr O&amp;M/power/manpower) → steady EBITDA ₹12.0 cr, ~54% margin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fertiliser leg is load-bearing: without FOM+MDA, project IRR falls 20.6% → 16.1% — digestate discipline is a core operating competency, not an afterthought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 strategy: anchor on sugar-mill press-mud (contracted, dense, cheap) + agri-residue swing — the cooperative-mill partnership angle below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Financials: 20%+ project IRR with a policy floor under revenue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 cr capex − ₹10 cr MNRE assistance = ₹50 cr net · 70:30 debt:equity @ 9.5% (priority sector) · 15-yr life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4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44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 (levered)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₹26.6 cr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230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NPV @ 12%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214884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16368" y="1691640"/>
            <a:ext cx="1929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516368" y="2386584"/>
            <a:ext cx="1929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92640" y="1600200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02368" y="1691640"/>
            <a:ext cx="17465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3A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1.85×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802368" y="2386584"/>
            <a:ext cx="17465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DSCR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— project IRR (%): SATAT price × delivered feedstock cost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03320"/>
            <a:ext cx="192024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703320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price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468880" y="3703320"/>
            <a:ext cx="219456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3703320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₹525/t (−25%)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3703320"/>
            <a:ext cx="219456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703320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₹700/t (base)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0" y="3703320"/>
            <a:ext cx="2194560" cy="493776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703320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₹875/t (+25%)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15384"/>
            <a:ext cx="192024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215384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₹48/kg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468880" y="4215384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42032" y="421538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18.9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663440" y="4215384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421538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858000" y="4215384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31152" y="4215384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727448"/>
            <a:ext cx="192024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727448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₹54/kg (SATAT)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2468880" y="4727448"/>
            <a:ext cx="21945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472744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23.1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663440" y="4727448"/>
            <a:ext cx="21945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72744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20.6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858000" y="4727448"/>
            <a:ext cx="2194560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31152" y="4727448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5239512"/>
            <a:ext cx="192024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5239512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₹60/kg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468880" y="5239512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523951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663440" y="5239512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6592" y="523951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24.7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858000" y="5239512"/>
            <a:ext cx="2194560" cy="493776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31152" y="5239512"/>
            <a:ext cx="2048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22.2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326880" y="3291840"/>
            <a:ext cx="2331720" cy="2514600"/>
          </a:xfrm>
          <a:prstGeom prst="roundRect">
            <a:avLst>
              <a:gd name="adj" fmla="val 3137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09760" y="3474720"/>
            <a:ext cx="1965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cell still 13.5% — the SATAT floor + PSL debt keep the downside financeable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5897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discipline: ramp year at 60%; carbon priced conservatively (₹800/credit); no terminal value; all levers editable in cbg_pitch_model.py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kills CBG plants — and how the structure answers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82880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544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77440" y="1554480"/>
            <a:ext cx="338328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55448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5897880" cy="713232"/>
          </a:xfrm>
          <a:prstGeom prst="rect">
            <a:avLst/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55448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8600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Feedstock supply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377440" y="2286000"/>
            <a:ext cx="33832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28600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failure mode — plants starve, not drown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2286000"/>
            <a:ext cx="58978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28600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press-mud contracts with sugar mills; multi-feed digester; BAM-funded collection machinery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01752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Digestate offtake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77440" y="3017520"/>
            <a:ext cx="3383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50592" y="301752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FOM piles up without marketing muscle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760720" y="3017520"/>
            <a:ext cx="5897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301752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Bulk-sale authorisation + MDA ₹1,500/t + ICAR practice guide; co-marketing with fertiliser distributors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74904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revision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377440" y="3749040"/>
            <a:ext cx="33832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374904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SATAT methodology changed May-2025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760720" y="3749040"/>
            <a:ext cx="58978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33872" y="374904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has only moved UP since 2018 (₹46→₹54); CBO demand decouples volume risk from price risk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480560"/>
            <a:ext cx="18288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48056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377440" y="4480560"/>
            <a:ext cx="33832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50592" y="448056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Trucking kills margins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60720" y="4480560"/>
            <a:ext cx="5897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448056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DPI-funded pipeline to CGD grid; site selection ≤10 km from network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182880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" y="5212080"/>
            <a:ext cx="16824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Execution/EPC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377440" y="5212080"/>
            <a:ext cx="33832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50592" y="5212080"/>
            <a:ext cx="3236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Commissioning delays burn the interest clock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0" y="5212080"/>
            <a:ext cx="5897880" cy="713232"/>
          </a:xfrm>
          <a:prstGeom prst="rect">
            <a:avLst/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33872" y="5212080"/>
            <a:ext cx="57515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Proven-technology EPC (fixed-price), staged drawdown, MNRE CFA milestone-linked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48640" y="60533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relying on: the NCDC coop-mill scheme as capital (96.5% goes to working capital), or carbon prices above ₹800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Landscape: majors, IPOs, and a fragmented middle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capital markets are already pricing this theme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470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Majors committed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(target ~100 CBG plants), Adani TotalEnergies, GAIL, IOCL/BPCL/HPCL joint ventures — strategic buyers of both gas and, eventually, platforms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470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pipeline live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TruAlt Bioenergy and Godavari Biorefineries listings establish public-market comps for bioenergy platforms; Praj Industries anchors the EPC value chain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0E3B2E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847088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middle = the opportunity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0" y="2606040"/>
            <a:ext cx="3246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single-plant developers with LOIs but no capital or digestate muscle — a roll-up / platform play with shared EPC, O&amp;M and FOM marketing beats one-off plants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sugar mills are the underexploited entry: 229 functional CSMs hold the press-mud and the land, NCDC keeps them liquid, but only ₹251 cr of the ₹10,005 cr scheme went to ethanol/energy assets — they need a capital + execution partner, not another loan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C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 that fit: BOT/BOOT on mill land, feedstock-for-equity JVs, or O&amp;M-plus-offtake partnerships — mill gets waste disposal + lease income, platform gets contracted feedstock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seed a 10-plant CBG platform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₹150 cr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for 10 × 12-TPD plants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8444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₹120 cr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8444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EBITDA/yr at steady 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3620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23620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levered equity IRR per plant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778240" y="155448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2F6F4"/>
          </a:solidFill>
          <a:ln w="9525">
            <a:solidFill>
              <a:srgbClr val="D5E0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1645920"/>
            <a:ext cx="2249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 kt/yr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887968" y="2340864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CBG = 12% of the FY29 CBO gap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(18 months): 3 plants on contracted sugar-mill press-mud in UP/Maharashtra — sites within 10 km of CGD networks, MNRE CFA + PSL debt term sheets in hand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7 plants replicating the template; shared EPC frame contract, central O&amp;M, one FOM marketing organisation across the fleet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paths: strategic sale to a major building CBG portfolios, CGD backward-integration, or the public-market route the current IPO window is validating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revenue leg sits on a government floor (SATAT, CBO, MDA) and every cost leg on a subsidy (CFA, DPI, PSL) — the pitch is not a technology bet, it is disciplined execution against a policy stack that is accelerating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sensitivity and sources: cbg_pitch_model.py · Annex A of The Volume Dividend · github.com/herrrickshaw/india-omc-fuel-fleet-model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Compressed Biogas — Investment Pitch</dc:title>
  <dc:subject>PptxGenJS Presentation</dc:subject>
  <dc:creator>india-omc-fuel-fleet-model</dc:creator>
  <cp:lastModifiedBy>india-omc-fuel-fleet-model</cp:lastModifiedBy>
  <cp:revision>1</cp:revision>
  <dcterms:created xsi:type="dcterms:W3CDTF">2026-07-28T09:28:52Z</dcterms:created>
  <dcterms:modified xsi:type="dcterms:W3CDTF">2026-07-28T09:28:52Z</dcterms:modified>
</cp:coreProperties>
</file>