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Molasses to Multi-Feed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seasonal sugar-mill distilleries into 330-day multi-feedstock ethanol plants — the highest-IRR brownfield play in Indian bioenergy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pitch · July 2026 · built on the Volume Dividend research stack (supply match, OMC price slabs, DFPD register, UP capacity mapping)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single-feed trap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molasses-only distilleries are the casualties of the consolidation phase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by design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molasses distillery runs on the cane crush: ~180 days of feedstock. Half the year the fermenters sit idle while debt service runs 365 days.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Overcapacity punishes the inflexible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OMCs absorb only ~60% of offered ethanol (CareEdge). Utilisation stuck at 65–75% for 3 years hits single-feedstock plants first — they cannot chase the slab or the season.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 everywhere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0" y="256032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feedstock = one price (cane politics set molasses), one policy lever (sugar-diversion caps), one failure mode. The Jul-2023 FCI rice suspension showed how fast a feedstock leg can vanish.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229 functional cooperative sugar mills are the extreme case: molasses-bound, working-capital-starved (NCDC's ₹10,005 cr scheme is 96.5% working capital), and structurally unable to fund conversion themselves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opportunity: the slab ladder pays for flexibility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Administered ESY 2024-25 procurement prices — grain campaigns price ₹11–14/L above molasses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0" cy="45720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 slab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0" y="1554480"/>
            <a:ext cx="2194560" cy="45720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0752" y="1554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 price (₹/L)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2160" y="1554480"/>
            <a:ext cx="3291840" cy="45720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5312" y="15544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310896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2996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C-heavy molasses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0" y="2029968"/>
            <a:ext cx="219456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02996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57.97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0" y="2029968"/>
            <a:ext cx="329184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202996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 crush only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505456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50545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surplus rice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0" y="2505456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0545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52160" y="2505456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250545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allocation-dependent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2980944"/>
            <a:ext cx="310896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980944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B-heavy molasses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0" y="2980944"/>
            <a:ext cx="219456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2980944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852160" y="2980944"/>
            <a:ext cx="329184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298094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 crush only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456432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5643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food grains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0" y="3456432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34564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852160" y="3456432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345643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310896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93192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juice/syrup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657600" y="3931920"/>
            <a:ext cx="219456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393192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65.61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852160" y="3931920"/>
            <a:ext cx="329184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25312" y="393192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 crush only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4407408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40740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657600" y="4407408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0752" y="440740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71.86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852160" y="4407408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25312" y="440740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— the E30 marginal slab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418320" y="1554480"/>
            <a:ext cx="2240280" cy="3291840"/>
          </a:xfrm>
          <a:prstGeom prst="roundRect">
            <a:avLst>
              <a:gd name="adj" fmla="val 3265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+770</a:t>
            </a:r>
            <a:endParaRPr lang="en-US" sz="3400" dirty="0"/>
          </a:p>
        </p:txBody>
      </p:sp>
      <p:sp>
        <p:nvSpPr>
          <p:cNvPr id="48" name="Text 46"/>
          <p:cNvSpPr/>
          <p:nvPr/>
        </p:nvSpPr>
        <p:spPr>
          <a:xfrm>
            <a:off x="9601200" y="2468880"/>
            <a:ext cx="1874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1,212 DFPD-approved projects came in the grain + dual-feed windows (2021-22) — the register already shows the pivot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E20→E27/E30 walk adds 400–600 cr L of fuel-ethanol demand (supply-match analysis) — and its marginal litre is grain: conversions capture the increment without greenfield risk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Multi-feed = slab arbitrage: crush molasses in season, run maize/damaged grain off-season, switch legs as administered prices and allocations move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policy moat: conversion is the scheme's intended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instrument points the same way — flexible, year-round, grain-capable capacity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916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DFPD Interest Subvention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057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subvention on project loans (grain/dual windows) — debt at ~4.75% effective. ₹1,17,362 cr of loans already recommended across the register.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6916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Administered slab ladder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82512" y="2057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DA&amp;FW/OMC prices fixed per feedstock per ESY — the maize premium is policy, deliberately steering capacity toward grain.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1912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grain leg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355701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LMT rice allocation ESY25-26 at ₹2,320/qtl + damaged-grain channel — a second grain feedstock when maize runs hot.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099816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31912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offtake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82512" y="355701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 LTOAs + 5% GST + excise-free ethanol molecule; allocation cycles favour plants that can bid multiple slabs.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6908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rescue money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" y="505663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NCDC ₹10,005 cr keeps CSMs alive (working capital) — but only ₹251 cr reached ethanol assets: the conversion capital gap IS the entry.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599432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46908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layering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82512" y="505663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UP/Bihar/MP bioenergy policies add capital subsidy and single-window clearances on top (UP added ~50 cr L capacity in 2025 alone).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gets built: ₹50 cr on a live plant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KLPD molasses distillery → dual-feed · fermentation and distillation columns stay · ~12-month execution, season-synchronised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2880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intake &amp; silos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56032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/ damaged-grain storage, cleaning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15184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182880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 + liquefaction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44368" y="256032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hammer mills, slurry, jet cooker, enzymes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01184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20640" y="16916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82880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Fermentation tweaks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0368" y="256032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yeast strain + cascade re-piping (existing vessels)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87184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06640" y="16916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182880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unchanged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16368" y="256032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columns, same ENA/RS quality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73184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92640" y="16916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2368" y="182880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DDGS dryer + boiler mods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02368" y="256032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co-product line; multi-fuel boiler flexibility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77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days: 180 → 330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44805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 grain days × 100 KLPD = +1.5 cr L/yr incremental ethanol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licence, same LTOA counterparty, same tank farm and ETP headroom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0" y="379476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Per-litre grain economics (₹/L)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46520" y="438912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slab 71.86 − maize 57.50 (₹23,000/t ÷ 400 L/t) + DDGS credit 13.18 − conversion cost 13.00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₹14.5/L EBITDA — vs ₹8–11/L typical on molasses legs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Financials: brownfield returns greenfield cannot touch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cr conversion · 70:30 debt:equity · DFPD subvention → 3.5% effective debt · 15-yr life · incremental cash flows only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944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IRR (subvented)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₹90.7 cr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230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@ 12%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16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1600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1691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3.74×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802368" y="2386584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DSCR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— project IRR (%): maize price × grain-campaign days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10312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70332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₹/t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51760" y="3703320"/>
            <a:ext cx="210312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370332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days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210312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70332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days (base)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0" y="3703320"/>
            <a:ext cx="210312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370332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days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15384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2153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51760" y="4215384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42153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4215384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2153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56.5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0" y="4215384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42153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727448"/>
            <a:ext cx="21031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72744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23,000 (base)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51760" y="4727448"/>
            <a:ext cx="21031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472744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54880" y="4727448"/>
            <a:ext cx="21031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72744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858000" y="4727448"/>
            <a:ext cx="21031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472744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239512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5239512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651760" y="5239512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24912" y="5239512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754880" y="5239512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5239512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858000" y="5239512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5239512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326880" y="329184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09760" y="3474720"/>
            <a:ext cx="1965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stress: if grain litres price at the damaged-grain slab (₹64) instead of maize, IRR is still 17.0% — above the 12% hurdle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slab premium is ADMINISTERED, not market — the biggest lever and the biggest risk; the ₹26,000-maize row and the ₹64-slab stress are the honest downside reading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own caveats, answered structurally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71323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1554480"/>
            <a:ext cx="3108960" cy="71323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155448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0" y="1554480"/>
            <a:ext cx="6172200" cy="71323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9552" y="155448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8288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8600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revision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310896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28600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premium is a policy choice, revised every ESY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0" y="2286000"/>
            <a:ext cx="61722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228600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Multi-feed = switch legs; DFG-slab stress still clears hurdle (17%); slabs have only risen since 2018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828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1752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 allocation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77440" y="3017520"/>
            <a:ext cx="3108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301752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~60% of offered ethanol absorbed today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0" y="3017520"/>
            <a:ext cx="6172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301752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E27/E30 walk absorbs the glut (utilisation 76–83%); flexible plants win allocation cycles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18288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74904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price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377440" y="3749040"/>
            <a:ext cx="310896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374904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₹26,000/t compresses IRR to 10–25%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0" y="3749040"/>
            <a:ext cx="61722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374904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DFG + FCI rice as alternate grain legs; forward contracts with FPOs; DDGS hedge (feed prices co-move)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1828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48056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on a live plant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377440" y="4480560"/>
            <a:ext cx="3108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448056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during crush season kills a year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0" y="4480560"/>
            <a:ext cx="6172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448056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build synchronised to off-season; proven EPC (Praj-class); fixed-price contract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8288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52120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DDGS market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377440" y="5212080"/>
            <a:ext cx="310896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521208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is ₹13/L of the margin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0" y="5212080"/>
            <a:ext cx="61722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521208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Poultry-belt siting; take-or-pay feed offtakes; model works at DDGS −30% (IRR ~29%)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relying on: E30 arriving on schedule, carbon revenue, or any slab premium widening — base case is today's published prices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Landscape: the listed players are already converting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 is proven — the gap is the cooperative and mid-tier private mills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Hindusthan: 570 KLD new multi-feed (group &gt;1,200 KLPD). Dalmia Bharat Sugar: ₹400 cr grain distillery + two 100-KL units. Balrampur, Triveni, Dhampur all running dual-feed. UP added ~50 cr L in 2025; Gorakhpur GIDA is the grain-ethanol cluster.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capacity exists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 Industries anchors multi-feed conversion EPC with standard packages; 12-month brownfield timelines are routine. The DFPD register (1,212 projects) means DPRs, vendors and lenders all know the template.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= the deal flow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0" y="233172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cooperative mills + dozens of mid-tier private molasses plants have the site, licence, ETP and LTOA — but not the ₹50 cr or the grain-operations capability. NCDC keeps them solvent, not strategic.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with the CBG platform pitch: the same mills' press-mud feeds CBG digesters — one partnership, two energy assets, shared site services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a 5-mill conversion programme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₹250 cr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268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100-KLPD conversions (₹75 cr equity)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8444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+7.5 cr 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58444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grain ethanol/yr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₹109 cr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23620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EBITDA/yr at 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96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88796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payback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per mill: BOT/lease or JV on the existing distillery — mill contributes plant, licence and molasses leg; programme funds and operates the grain conversion; revenue share aligned to slabs actually realised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2 UP mills (grain belt, GIDA vendor ecosystem, state policy top-up) + 1 Maharashtra cooperative; Phase 2: replicate ×2 with the shared grain-procurement and DDGS-marketing organisation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protection: DFPD-subvented debt at ~3.5% effective, DFG/FCI-rice alternate slabs, and the molasses leg keeps servicing debt even if the grain campaign pauses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sale to a listed sugar-ethanol consolidator, or the mills buy back the conversion at a pre-agreed multiple once cash flows season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sensitivity and sources: distillery_conversion_model.py · ethanol_supply_match.py · The Volume Dividend · github.com/herrrickshaw/india-omc-fuel-fleet-model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Multi-Feed Distillery Conversion — Investment Pitch</dc:title>
  <dc:subject>PptxGenJS Presentation</dc:subject>
  <dc:creator>india-omc-fuel-fleet-model</dc:creator>
  <cp:lastModifiedBy>india-omc-fuel-fleet-model</cp:lastModifiedBy>
  <cp:revision>1</cp:revision>
  <dcterms:created xsi:type="dcterms:W3CDTF">2026-07-28T10:23:03Z</dcterms:created>
  <dcterms:modified xsi:type="dcterms:W3CDTF">2026-07-28T10:23:03Z</dcterms:modified>
</cp:coreProperties>
</file>