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MJ per litre</c:v>
                </c:pt>
              </c:strCache>
            </c:strRef>
          </c:tx>
          <c:spPr>
            <a:solidFill>
              <a:srgbClr val="1652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B2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Diesel</c:v>
                  </c:pt>
                  <c:pt idx="1">
                    <c:v>B20</c:v>
                  </c:pt>
                  <c:pt idx="2">
                    <c:v>Petrol E0</c:v>
                  </c:pt>
                  <c:pt idx="3">
                    <c:v>E10</c:v>
                  </c:pt>
                  <c:pt idx="4">
                    <c:v>E20</c:v>
                  </c:pt>
                  <c:pt idx="5">
                    <c:v>E30</c:v>
                  </c:pt>
                  <c:pt idx="6">
                    <c:v>Isobutanol</c:v>
                  </c:pt>
                  <c:pt idx="7">
                    <c:v>Ethanol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35.7</c:v>
                </c:pt>
                <c:pt idx="1">
                  <c:v>35.1</c:v>
                </c:pt>
                <c:pt idx="2">
                  <c:v>32.1</c:v>
                </c:pt>
                <c:pt idx="3">
                  <c:v>31</c:v>
                </c:pt>
                <c:pt idx="4">
                  <c:v>29.9</c:v>
                </c:pt>
                <c:pt idx="5">
                  <c:v>28.8</c:v>
                </c:pt>
                <c:pt idx="6">
                  <c:v>26.5</c:v>
                </c:pt>
                <c:pt idx="7">
                  <c:v>21.1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C2B2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C2B2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6350" cap="flat">
              <a:solidFill>
                <a:srgbClr val="D5E0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Extra bn L/yr</c:v>
                </c:pt>
              </c:strCache>
            </c:strRef>
          </c:tx>
          <c:spPr>
            <a:solidFill>
              <a:srgbClr val="E3A7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C2B2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E20</c:v>
                  </c:pt>
                  <c:pt idx="1">
                    <c:v>E25</c:v>
                  </c:pt>
                  <c:pt idx="2">
                    <c:v>E30</c:v>
                  </c:pt>
                  <c:pt idx="3">
                    <c:v>B7</c:v>
                  </c:pt>
                  <c:pt idx="4">
                    <c:v>B10</c:v>
                  </c:pt>
                  <c:pt idx="5">
                    <c:v>B15</c:v>
                  </c:pt>
                  <c:pt idx="6">
                    <c:v>B20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2.16</c:v>
                </c:pt>
                <c:pt idx="1">
                  <c:v>3.02</c:v>
                </c:pt>
                <c:pt idx="2">
                  <c:v>3.91</c:v>
                </c:pt>
                <c:pt idx="3">
                  <c:v>0.64</c:v>
                </c:pt>
                <c:pt idx="4">
                  <c:v>0.92</c:v>
                </c:pt>
                <c:pt idx="5">
                  <c:v>1.38</c:v>
                </c:pt>
                <c:pt idx="6">
                  <c:v>1.85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C2B2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2B2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E0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Embedded tax headroom</c:v>
                </c:pt>
              </c:strCache>
            </c:strRef>
          </c:tx>
          <c:spPr>
            <a:solidFill>
              <a:srgbClr val="1652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B2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E20</c:v>
                  </c:pt>
                  <c:pt idx="1">
                    <c:v>E25</c:v>
                  </c:pt>
                  <c:pt idx="2">
                    <c:v>E27</c:v>
                  </c:pt>
                  <c:pt idx="3">
                    <c:v>E30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6.46</c:v>
                </c:pt>
                <c:pt idx="1">
                  <c:v>8.07</c:v>
                </c:pt>
                <c:pt idx="2">
                  <c:v>8.72</c:v>
                </c:pt>
                <c:pt idx="3">
                  <c:v>9.69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Parity discount needed</c:v>
                </c:pt>
              </c:strCache>
            </c:strRef>
          </c:tx>
          <c:spPr>
            <a:solidFill>
              <a:srgbClr val="E3A7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B2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E20</c:v>
                  </c:pt>
                  <c:pt idx="1">
                    <c:v>E25</c:v>
                  </c:pt>
                  <c:pt idx="2">
                    <c:v>E27</c:v>
                  </c:pt>
                  <c:pt idx="3">
                    <c:v>E30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4.2</c:v>
                </c:pt>
                <c:pt idx="1">
                  <c:v>5.78</c:v>
                </c:pt>
                <c:pt idx="2">
                  <c:v>6.56</c:v>
                </c:pt>
                <c:pt idx="3">
                  <c:v>7.35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C2B2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2B2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E0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C2B27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5% ethanol SGST revenue (₹ cr/yr)</c:v>
                </c:pt>
              </c:strCache>
            </c:strRef>
          </c:tx>
          <c:spPr>
            <a:solidFill>
              <a:srgbClr val="2E9E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C2B2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E20</c:v>
                  </c:pt>
                  <c:pt idx="1">
                    <c:v>E22</c:v>
                  </c:pt>
                  <c:pt idx="2">
                    <c:v>E25</c:v>
                  </c:pt>
                  <c:pt idx="3">
                    <c:v>E27</c:v>
                  </c:pt>
                  <c:pt idx="4">
                    <c:v>E30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3243</c:v>
                </c:pt>
                <c:pt idx="1">
                  <c:v>3662</c:v>
                </c:pt>
                <c:pt idx="2">
                  <c:v>4324</c:v>
                </c:pt>
                <c:pt idx="3">
                  <c:v>4787</c:v>
                </c:pt>
                <c:pt idx="4">
                  <c:v>5513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C2B2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2B2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E0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Utilisation on 2,000 cr L (today)</c:v>
                </c:pt>
              </c:strCache>
            </c:strRef>
          </c:tx>
          <c:spPr>
            <a:solidFill>
              <a:srgbClr val="16523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B2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E20</c:v>
                  </c:pt>
                  <c:pt idx="1">
                    <c:v>E25</c:v>
                  </c:pt>
                  <c:pt idx="2">
                    <c:v>E27</c:v>
                  </c:pt>
                  <c:pt idx="3">
                    <c:v>E30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70</c:v>
                </c:pt>
                <c:pt idx="1">
                  <c:v>85</c:v>
                </c:pt>
                <c:pt idx="2">
                  <c:v>91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 2,400 cr L (FY27)</c:v>
                </c:pt>
              </c:strCache>
            </c:strRef>
          </c:tx>
          <c:spPr>
            <a:solidFill>
              <a:srgbClr val="2E9E6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C2B2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E20</c:v>
                  </c:pt>
                  <c:pt idx="1">
                    <c:v>E25</c:v>
                  </c:pt>
                  <c:pt idx="2">
                    <c:v>E27</c:v>
                  </c:pt>
                  <c:pt idx="3">
                    <c:v>E30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59</c:v>
                </c:pt>
                <c:pt idx="1">
                  <c:v>71</c:v>
                </c:pt>
                <c:pt idx="2">
                  <c:v>76</c:v>
                </c:pt>
                <c:pt idx="3">
                  <c:v>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C2B2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2B2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0"/>
        <c:axPos val="l"/>
        <c:majorGridlines>
          <c:spPr>
            <a:ln w="6350" cap="flat">
              <a:solidFill>
                <a:srgbClr val="D5E0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C2B27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Volume Dividend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2971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Ethanol &amp; biodiesel blending, honest pump prices, state taxation — and the CBG alternative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· FY 2024-25 volumes · July 2026 prices · SIAM/ARAI FE anchor  |  repos: india-omc-fuel-fleet-model · vehicle_fuel_mileage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physics: a litre is not a litre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heating value per litre (liquids) and per kg (gases)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508760"/>
            <a:ext cx="3886200" cy="4846320"/>
          </a:xfrm>
          <a:prstGeom prst="roundRect">
            <a:avLst>
              <a:gd name="adj" fmla="val 1882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01000" y="17373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per kilogram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001000" y="2103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CNG  47.5 MJ/kg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8001000" y="26060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CBG  46.5 MJ/kg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8001000" y="3291840"/>
            <a:ext cx="3474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Ethanol carries 34% less energy per litre than petrol; isobutanol only 17% less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ethanol blend step dilutes the litre the customer pays for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CBG at IS 16087 spec is at CNG parity per kg — pure methane is above it (50 MJ/kg)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mechanism: dilution becomes revenue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every per-litre stakeholder quietly gains from blending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4708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20% ethanol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395728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energy/litre −6.8%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27248" y="21488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429000" y="173736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184708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Mileage falls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66160" y="2395728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−4% real-world (SIAM/ARAI)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07608" y="21488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6309360" y="173736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184708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km, more litres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46520" y="2395728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+4.2% volume through pumps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87968" y="21488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89720" y="173736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0" y="184708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Per-litre levies collect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326880" y="2395728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excise ₹19.90 · VAT ~₹19.5 · dealer ₹4.1 · OMC ₹3.5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379476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₹22,703 cr</a:t>
            </a:r>
            <a:endParaRPr lang="en-US" sz="5600" dirty="0"/>
          </a:p>
        </p:txBody>
      </p:sp>
      <p:sp>
        <p:nvSpPr>
          <p:cNvPr id="20" name="Text 18"/>
          <p:cNvSpPr/>
          <p:nvPr/>
        </p:nvSpPr>
        <p:spPr>
          <a:xfrm>
            <a:off x="548640" y="484632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consumer fuel spend per year at E20 from the volume effect alone —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an unchanged price per litre. The pump board never shows it.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675120" y="3794760"/>
            <a:ext cx="4983480" cy="2148840"/>
          </a:xfrm>
          <a:prstGeom prst="roundRect">
            <a:avLst>
              <a:gd name="adj" fmla="val 3404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03720" y="402336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20 km/L hatchback buys +21 L/yr ≈ ₹2,188/yr extra on E20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levy of 4.2% on every km driven — regressive, invisible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FY23 ₹2/L penalty on unblended petrol widens the gap further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collects the E20 volume dividend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crore per year on the 54-billion-litre petrol pool (2.16 bn extra litres)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5564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₹4,303 cr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85800" y="2450592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— excise ₹19.90/L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37560" y="16459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175564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₹4,216 cr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3474720" y="2450592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— VAT ~₹19.5/L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16459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63640" y="175564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3A7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₹886 cr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263640" y="2450592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Dealers — commission ₹4.1/L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915400" y="16459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52560" y="175564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3A7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₹757 cr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052560" y="2450592"/>
            <a:ext cx="2331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OMCs — margin ₹3.5/L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429000"/>
            <a:ext cx="10972800" cy="1371600"/>
          </a:xfrm>
          <a:prstGeom prst="roundRect">
            <a:avLst>
              <a:gd name="adj" fmla="val 5333"/>
            </a:avLst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61188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Paid entirely by the consumer:  ₹22,703 cr/yr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22960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exchequer + trade gain IS the consumer's loss, litre for litre. This is additive to the separate substitution effect (states forgo VAT on the ethanol fraction).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120640"/>
            <a:ext cx="10972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 commission and OMC margin are volume-linked — network economics quietly improve as blends rise (per-RO throughput has been falling on network dilution; blending offsets it)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OMC-margin figure reconciles exactly with the OMC retail-profitability model (₹757 cr at E20)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Blending more: E25/E30 and diesel B10–B20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litres pulled through pumps for the same distance (bn L/yr)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508760"/>
            <a:ext cx="4069080" cy="4846320"/>
          </a:xfrm>
          <a:prstGeom prst="roundRect">
            <a:avLst>
              <a:gd name="adj" fmla="val 1798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1812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E20→E30 walk (vs today)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818120" y="2148840"/>
            <a:ext cx="36118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E30 adds +1.75 bn L/yr beyond E20: +₹18,300 cr consumer, +₹6,900 cr excise+VAT, +₹715 cr dealer commission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Engines are calibrated for E20 — the octane-recovery offset is spent; E25–E30 pass through closer to raw energy loss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Diesel pool is 2× petrol: B20 pulls 1.85 bn L despite only −1.7% dilution; cost lands on freight &amp; inflation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Reality check: biodiesel was &lt;1% in FY24-25; NBP targets B5 by 2030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the consumer: parity prices that give the mileage back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pricing rule  P(blend) = P(E0) × (1 − mileage drop)   ·   petrol at ₹105/L today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88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85800" y="22402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₹100.80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685800" y="30175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−₹4.20/L · 4.0% drop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429000" y="169164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18288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E25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566160" y="22402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₹99.22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3566160" y="30175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−₹5.78/L · 5.5% drop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309360" y="169164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18288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E27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46520" y="22402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₹98.44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6446520" y="30175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−₹6.56/L · 6.25% drop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46520" y="34290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sweet spot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89720" y="169164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0" y="182880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E30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326880" y="22402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₹97.65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9326880" y="30175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−₹7.35/L · 7.0% drop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4389120"/>
            <a:ext cx="10972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parity-priced blend makes cost-per-km identical to unblended petrol — the consumer is made whole, the pump board tells the truth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Restores the consumer's ₹22,700–41,000 cr/yr; the hatchback owner gets the ₹2,188/yr back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E27 mirrors Brazil's ceiling for non-flex engines — the highest blend today's fleet tolerates as E20+ vehicles diffuse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the government: parity is already funded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₹/L per blended litre — tax break embedded in the blend vs the discount parity needs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508760"/>
            <a:ext cx="4069080" cy="4846320"/>
          </a:xfrm>
          <a:prstGeom prst="roundRect">
            <a:avLst>
              <a:gd name="adj" fmla="val 1798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1812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scenarios tested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818120" y="2148840"/>
            <a:ext cx="36118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pass-through (works, 1.3–1.5×): the ethanol molecule escapes excise + VAT, pays only 5% GST — ₹6.5–9.7/L already sits in the price build-up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S2/S3 duty cuts: possible but costs centre/states ₹22,700–41,000 cr/yr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cheaper ethanol: FAILS — needs ₹37–41/L vs ₹57.97 cheapest feedstock slab; grain mandi prices set the floor (maize slab ₹71.86 is the E30 marginal source)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subsidy in S1 — it only stops a windfall the blend walk creates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Introduce a state SGST on ethanol — price-neutral new revenue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lose petrol VAT on every ethanol litre; a 1–5% ethanol SGST claws it back inside the fiscal space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76656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600200"/>
            <a:ext cx="4069080" cy="4663440"/>
          </a:xfrm>
          <a:prstGeom prst="roundRect">
            <a:avLst>
              <a:gd name="adj" fmla="val 1798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18120" y="1828800"/>
            <a:ext cx="3611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sets the recovery %, blend sets the ₹: 5% recovers ~18% of foregone petrol-VAT at any blend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5% levy costs ₹3.0–3.4/L of ethanol — fits inside the ₹7–15/L fiscal space at every blend, so the pump price never moves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rises on both axes: E20→E30 grows the ethanol base 50%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spot: E27 @ 5% ≈ ₹4,787 cr/yr of new state revenue at zero consumer cost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grand bargain: blend more, charge less, tax smarter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E27 with parity pricing + 5% ethanol SGST — everyone still fits inside the embedded headroom (₹/L of blended petrol)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949440" cy="3017520"/>
          </a:xfrm>
          <a:prstGeom prst="roundRect">
            <a:avLst>
              <a:gd name="adj" fmla="val 2424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headroom at E27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703320" y="1929384"/>
            <a:ext cx="3348899" cy="347472"/>
          </a:xfrm>
          <a:prstGeom prst="rect">
            <a:avLst/>
          </a:prstGeom>
          <a:solidFill>
            <a:srgbClr val="16523F"/>
          </a:solidFill>
          <a:ln/>
        </p:spPr>
      </p:sp>
      <p:sp>
        <p:nvSpPr>
          <p:cNvPr id="7" name="Text 5"/>
          <p:cNvSpPr/>
          <p:nvPr/>
        </p:nvSpPr>
        <p:spPr>
          <a:xfrm>
            <a:off x="7143659" y="18745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5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+₹8.72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parity discount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703320" y="2615184"/>
            <a:ext cx="2519355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0" name="Text 8"/>
          <p:cNvSpPr/>
          <p:nvPr/>
        </p:nvSpPr>
        <p:spPr>
          <a:xfrm>
            <a:off x="6314115" y="2560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−₹6.56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77240" y="32461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States: 5% ethanol SGST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703320" y="3300984"/>
            <a:ext cx="341803" cy="347472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3" name="Text 11"/>
          <p:cNvSpPr/>
          <p:nvPr/>
        </p:nvSpPr>
        <p:spPr>
          <a:xfrm>
            <a:off x="4136563" y="32461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−₹0.89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7240" y="3931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remaining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703320" y="3986784"/>
            <a:ext cx="487741" cy="347472"/>
          </a:xfrm>
          <a:prstGeom prst="rect">
            <a:avLst/>
          </a:prstGeom>
          <a:solidFill>
            <a:srgbClr val="E3A72F"/>
          </a:solidFill>
          <a:ln/>
        </p:spPr>
      </p:sp>
      <p:sp>
        <p:nvSpPr>
          <p:cNvPr id="16" name="Text 14"/>
          <p:cNvSpPr/>
          <p:nvPr/>
        </p:nvSpPr>
        <p:spPr>
          <a:xfrm>
            <a:off x="4282501" y="39319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+₹1.27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" y="4892040"/>
            <a:ext cx="6583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Consumer: ₹98.44/L and honest cost-per-km  ·  States: +₹4,787 cr/yr SGST  ·  Centre: keeps full excise on a bigger blended pool  ·  Farmers: 35% more ethanol offtake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772400" y="1645920"/>
            <a:ext cx="3886200" cy="4800600"/>
          </a:xfrm>
          <a:prstGeom prst="roundRect">
            <a:avLst>
              <a:gd name="adj" fmla="val 1882"/>
            </a:avLst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01000" y="18288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let CBG do the gas side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001000" y="2286000"/>
            <a:ext cx="34290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8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Renewable MJ via SATAT CBG: ₹1.16 vs ethanol's ₹2.94 — 2.5× cheaper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8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 per kg at CNG parity: zero mileage loss, zero hidden levy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8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CBO at 5% moves the CNG pump just ₹0.59/kg (~0.8%), mileage −0.1%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8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Undercuts imported LNG above ~$14.8/MMBtu; subsidy sits on-budget (SATAT + GOBARdhan), not in the fuel gauge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Supply check: higher blends CURE the distillery overcapacity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utilisation = (fuel + non-fuel ethanol demand) ÷ capacity · CareEdge Ratings May-2026 supply data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508760"/>
            <a:ext cx="4069080" cy="4846320"/>
          </a:xfrm>
          <a:prstGeom prst="roundRect">
            <a:avLst>
              <a:gd name="adj" fmla="val 1798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818120" y="1737360"/>
            <a:ext cx="36118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~2,000 cr L (+400 by FY27); at E20 only ~60% of offered ethanol is absorbed — CareEdge sees 65–75% utilisation for 3 years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E27 lifts utilisation to 76% — top of the band, absorbs Maharashtra's +277 cr L surplus, zero new construction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Coop-mill scheme ≠ capacity: of ₹10,005 cr NCDC gave 56 mills, 96.5% is working capital; the ₹251 cr ethanol tranche ≈ 9.7 cr L/yr (0.5% of installed)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 rice leg ~211 cr L (3.9 blend pts, Jul-2023 suspension risk) — the E27/E30 increment rides on open-market maize, the dearest slab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Demand-grown E30 (FY31, 2,173 cr L) hits ~104% — only then does the 4,530 cr L DFPD sanction register need to build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RON95 dividend: octane the consumer never sees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 = knock resistance (regular petrol 91, premium 95) · ethanol blending RON ~112 · BOB = the petrol base before blending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097280" cy="512064"/>
          </a:xfrm>
          <a:prstGeom prst="rect">
            <a:avLst/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600200"/>
            <a:ext cx="9509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737360" y="1600200"/>
            <a:ext cx="2743200" cy="512064"/>
          </a:xfrm>
          <a:prstGeom prst="rect">
            <a:avLst/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10512" y="1600200"/>
            <a:ext cx="25968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needed if pump stays RON 91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0" y="1600200"/>
            <a:ext cx="2743200" cy="512064"/>
          </a:xfrm>
          <a:prstGeom prst="rect">
            <a:avLst/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45152" y="1600200"/>
            <a:ext cx="25968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Pump RON if BOB stays 91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406640" y="1600200"/>
            <a:ext cx="1554480" cy="512064"/>
          </a:xfrm>
          <a:prstGeom prst="rect">
            <a:avLst/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79792" y="1600200"/>
            <a:ext cx="1408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Octane credit ₹/L*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167128"/>
            <a:ext cx="1097280" cy="51206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2167128"/>
            <a:ext cx="9509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737360" y="2167128"/>
            <a:ext cx="2743200" cy="51206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10512" y="2167128"/>
            <a:ext cx="25968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88.7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0" y="2167128"/>
            <a:ext cx="2743200" cy="51206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45152" y="2167128"/>
            <a:ext cx="25968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93.1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406640" y="2167128"/>
            <a:ext cx="1554480" cy="51206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79792" y="2167128"/>
            <a:ext cx="1408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2734056"/>
            <a:ext cx="109728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" y="2734056"/>
            <a:ext cx="9509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E20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737360" y="2734056"/>
            <a:ext cx="27432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810512" y="2734056"/>
            <a:ext cx="25968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0" y="2734056"/>
            <a:ext cx="27432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45152" y="2734056"/>
            <a:ext cx="25968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95.2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406640" y="2734056"/>
            <a:ext cx="155448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79792" y="2734056"/>
            <a:ext cx="1408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3300984"/>
            <a:ext cx="1097280" cy="51206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1792" y="3300984"/>
            <a:ext cx="9509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E25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1737360" y="3300984"/>
            <a:ext cx="2743200" cy="51206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10512" y="3300984"/>
            <a:ext cx="25968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84.0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572000" y="3300984"/>
            <a:ext cx="2743200" cy="51206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45152" y="3300984"/>
            <a:ext cx="25968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96.2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406640" y="3300984"/>
            <a:ext cx="1554480" cy="51206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79792" y="3300984"/>
            <a:ext cx="1408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11.8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48640" y="3867912"/>
            <a:ext cx="109728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1792" y="3867912"/>
            <a:ext cx="9509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E27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1737360" y="3867912"/>
            <a:ext cx="27432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810512" y="3867912"/>
            <a:ext cx="25968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83.2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572000" y="3867912"/>
            <a:ext cx="274320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45152" y="3867912"/>
            <a:ext cx="25968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96.7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7406640" y="3867912"/>
            <a:ext cx="155448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79792" y="3867912"/>
            <a:ext cx="1408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12.8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48640" y="4434840"/>
            <a:ext cx="1097280" cy="51206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1792" y="4434840"/>
            <a:ext cx="9509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E30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1737360" y="4434840"/>
            <a:ext cx="2743200" cy="51206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810512" y="4434840"/>
            <a:ext cx="25968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82.0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4572000" y="4434840"/>
            <a:ext cx="2743200" cy="51206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645152" y="4434840"/>
            <a:ext cx="25968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97.3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7406640" y="4434840"/>
            <a:ext cx="1554480" cy="51206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79792" y="4434840"/>
            <a:ext cx="14081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14.2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8640" y="51206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*valued at the retail XP95 spread (~₹2.25/RON point) — a willingness-to-pay ceiling; refining cost is lower (₹0.3–0.8/L per 4–5 points)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9235440" y="1600200"/>
            <a:ext cx="2423160" cy="3383280"/>
          </a:xfrm>
          <a:prstGeom prst="roundRect">
            <a:avLst>
              <a:gd name="adj" fmla="val 3019"/>
            </a:avLst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418320" y="178308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E20 penalty on a RON95-calibrated engine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9418320" y="256032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3A7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−1.8%</a:t>
            </a:r>
            <a:endParaRPr lang="en-US" sz="4000" dirty="0"/>
          </a:p>
        </p:txBody>
      </p:sp>
      <p:sp>
        <p:nvSpPr>
          <p:cNvPr id="56" name="Text 54"/>
          <p:cNvSpPr/>
          <p:nvPr/>
        </p:nvSpPr>
        <p:spPr>
          <a:xfrm>
            <a:off x="9418320" y="342900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−4% energy +2.2% from CR 10.5→12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48640" y="562356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India blends to pump RON 91 → refiners quietly drop the blendstock to 85.7 and keep the saving. Holding the blendstock at 91 instead makes E20 a FREE national RON95 fuel — Brazil's E27 playbook: parity pricing compensates today's fleet, RON95 + high-compression E20+ engines erase the penalty as the fleet turns over (~2.9 cr new vehicles/yr)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CBG incentive stack: every leg de-risked, all on-budget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GOBARdhan important-circulars register (70 circulars, ~half dated 2025-26) · full detail in the paper's Annex 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61848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Offtake &amp; pricing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13232" y="193852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SATAT assured ₹54/kg ex-plant (2022, rev. 2025) · CGD synchronization (2021→2026) · CBO mandate 1%→5% (2024)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217920" y="1554480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82512" y="161848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support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82512" y="193852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MNRE Waste-to-Energy CFA (2022, rev. 2025) · SBM 2.0 bio-methanation VGF (2025) · SASCI state capital assistance (2026)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724912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7889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&amp; feedstock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3232" y="310896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DPI pipeline-connectivity scheme (2024→2026) · biomass aggregation machinery (2024-25) · crop-residue channelling (2023-24)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17920" y="2724912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82512" y="278892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A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Fertiliser (digestate) leg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82512" y="310896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F1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FCO Schedule VIII 'Organic Carbon Enhancer' (2025, gazette-verified) · Bulk Sale Notifications I–VII · MDA ~₹1,500/t · ICAR practice guide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895344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395935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access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13232" y="4279392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RBI Priority Sector Lending (2020) · Agriculture Infrastructure Fund (2020/23) · AHIDF (2022)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17920" y="3895344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82512" y="395935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&amp; carbon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82512" y="4279392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GST · excise exemption on CBG-blended CNG (2023) · carbon-credit eligibility (MoEFCC 2023)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5065776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512978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&amp; easing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13232" y="5449824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16087:2025 (= legal CNG fungibility) · MoRTH bio-CNG fuel notification (2015) · CPCB re-categorisation (2021/25)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217920" y="5065776"/>
            <a:ext cx="5440680" cy="1060704"/>
          </a:xfrm>
          <a:prstGeom prst="roundRect">
            <a:avLst>
              <a:gd name="adj" fmla="val 6897"/>
            </a:avLst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82512" y="512978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layer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82512" y="5449824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· Bihar · Rajasthan · AP · Assam · MP · Chhattisgarh (Jul-2026) + MoPNG Model State CBG Policy (Apr-2026)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6217920"/>
            <a:ext cx="11109960" cy="548640"/>
          </a:xfrm>
          <a:prstGeom prst="roundRect">
            <a:avLst>
              <a:gd name="adj" fmla="val 13333"/>
            </a:avLst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6245352"/>
            <a:ext cx="10698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Feedstock, capex, debt, gas revenue, digestate revenue, carbon revenue — all supported ON-BUDGET and ex-plant: the structural opposite of ethanol's consumer-funded volume dividend.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DME in LPG: the fourth quadrant — the dividend inverts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DME 28.8 vs LPG 45.8 MJ/kg (−37%) · LERC-measured −5.26% at DME20 (IS 4246) · BIS IS 18698:2024 caps blends at 20%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103120" cy="603504"/>
          </a:xfrm>
          <a:prstGeom prst="rect">
            <a:avLst/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600200"/>
            <a:ext cx="19568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651760" y="1600200"/>
            <a:ext cx="1371600" cy="603504"/>
          </a:xfrm>
          <a:prstGeom prst="rect">
            <a:avLst/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24912" y="1600200"/>
            <a:ext cx="12252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023360" y="1600200"/>
            <a:ext cx="1828800" cy="603504"/>
          </a:xfrm>
          <a:prstGeom prst="rect">
            <a:avLst/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96512" y="1600200"/>
            <a:ext cx="16824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 status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852160" y="1600200"/>
            <a:ext cx="3017520" cy="603504"/>
          </a:xfrm>
          <a:prstGeom prst="rect">
            <a:avLst/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25312" y="1600200"/>
            <a:ext cx="28712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effect lands on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258568"/>
            <a:ext cx="2103120" cy="60350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" y="2258568"/>
            <a:ext cx="19568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Ethanol in petrol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651760" y="2258568"/>
            <a:ext cx="1371600" cy="60350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24912" y="2258568"/>
            <a:ext cx="12252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−34% /L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023360" y="2258568"/>
            <a:ext cx="1828800" cy="60350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96512" y="2258568"/>
            <a:ext cx="16824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heavily taxed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852160" y="2258568"/>
            <a:ext cx="3017520" cy="60350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25312" y="2258568"/>
            <a:ext cx="28712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pays; exchequer + trade collect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2916936"/>
            <a:ext cx="21031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" y="2916936"/>
            <a:ext cx="19568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Biodiesel in diesel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651760" y="2916936"/>
            <a:ext cx="13716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24912" y="2916936"/>
            <a:ext cx="12252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−8% /L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023360" y="2916936"/>
            <a:ext cx="18288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96512" y="2916936"/>
            <a:ext cx="16824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taxed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852160" y="2916936"/>
            <a:ext cx="30175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25312" y="2916936"/>
            <a:ext cx="28712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mild; cascades into freight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3575304"/>
            <a:ext cx="2103120" cy="60350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1792" y="3575304"/>
            <a:ext cx="19568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CBG in CNG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651760" y="3575304"/>
            <a:ext cx="1371600" cy="60350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24912" y="3575304"/>
            <a:ext cx="12252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~0% /kg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023360" y="3575304"/>
            <a:ext cx="1828800" cy="60350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096512" y="3575304"/>
            <a:ext cx="16824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lightly taxed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852160" y="3575304"/>
            <a:ext cx="3017520" cy="603504"/>
          </a:xfrm>
          <a:prstGeom prst="rect">
            <a:avLst/>
          </a:prstGeom>
          <a:solidFill>
            <a:srgbClr val="F2F6F4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25312" y="3575304"/>
            <a:ext cx="28712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— the honest blend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8640" y="4233672"/>
            <a:ext cx="2103120" cy="603504"/>
          </a:xfrm>
          <a:prstGeom prst="rect">
            <a:avLst/>
          </a:prstGeom>
          <a:solidFill>
            <a:srgbClr val="16523F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1792" y="4233672"/>
            <a:ext cx="19568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DME in LPG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651760" y="4233672"/>
            <a:ext cx="1371600" cy="603504"/>
          </a:xfrm>
          <a:prstGeom prst="rect">
            <a:avLst/>
          </a:prstGeom>
          <a:solidFill>
            <a:srgbClr val="16523F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24912" y="4233672"/>
            <a:ext cx="12252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−37% /kg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023360" y="4233672"/>
            <a:ext cx="1828800" cy="603504"/>
          </a:xfrm>
          <a:prstGeom prst="rect">
            <a:avLst/>
          </a:prstGeom>
          <a:solidFill>
            <a:srgbClr val="16523F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096512" y="4233672"/>
            <a:ext cx="16824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SUBSIDISED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852160" y="4233672"/>
            <a:ext cx="3017520" cy="603504"/>
          </a:xfrm>
          <a:prstGeom prst="rect">
            <a:avLst/>
          </a:prstGeom>
          <a:solidFill>
            <a:srgbClr val="16523F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925312" y="4233672"/>
            <a:ext cx="28712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AND exchequer pay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9235440" y="1600200"/>
            <a:ext cx="2423160" cy="3246120"/>
          </a:xfrm>
          <a:prstGeom prst="roundRect">
            <a:avLst>
              <a:gd name="adj" fmla="val 3019"/>
            </a:avLst>
          </a:prstGeom>
          <a:solidFill>
            <a:srgbClr val="0E3B2E"/>
          </a:solidFill>
          <a:ln w="9525">
            <a:solidFill>
              <a:srgbClr val="D5E0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418320" y="17830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DME20 at unchanged cylinder price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9418320" y="242316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+₹312/yr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9418320" y="310896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3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household — plus ₹1,201 cr/yr extra PMUY subsidy. Parity cylinder = ₹761 vs ₹803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48640" y="512064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Ethanol's dilution EARNS the exchequer excise; DME's dilution BILLS it — a hidden levy on the Ujjwala merit good with the subsidy bill co-paying (₹9,325 cr consumer + ₹1,201 cr PMUY at DME20 on the full pool)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Economics don't clear: energy-neutral DME must price ≤₹32.7/kg but methanol-route feedstock alone is ₹33.6/kg — import substitution is honest only on coal/bio-DME, and DME20 needs 6.3 MMT/yr (~6× India's methanol output)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C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if pursued: energy-parity cylinder pricing + domestic-carbon DME only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3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honest blending policy looks like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105156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blends for parity: E20 at ₹100.80, stepping to ₹98.44 at E27 — funded by passing through the tax break already embedded (1.3–1.5× coverage; no new subsidy)</a:t>
            </a:r>
            <a:endParaRPr lang="en-US" sz="17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states a 1–5% SGST on ethanol — up to ₹4,787 cr/yr at E27, price-neutral, ending their structural objection to higher blends</a:t>
            </a:r>
            <a:endParaRPr lang="en-US" sz="17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the blend E20 → E27 with the fleet, not ahead of it (Brazil precedent); label pumps with energy content, not just blend %</a:t>
            </a:r>
            <a:endParaRPr lang="en-US" sz="17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E20+ as RON95 (hold the blendstock at 91) — the free octane lets high-compression engines shrink the mileage penalty to ~−1.8% as the fleet turns over</a:t>
            </a:r>
            <a:endParaRPr lang="en-US" sz="17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diesel at B5–B7 until supply and OEM warranties mature — the pool is too big for silent dilution</a:t>
            </a:r>
            <a:endParaRPr lang="en-US" sz="1700" dirty="0"/>
          </a:p>
          <a:p>
            <a:pPr marL="177800" indent="-177800">
              <a:spcAft>
                <a:spcPts val="1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CBG on the gas side: CNG-parity energy per kg means decarbonisation with no volume dividend to hide — the fiscally honest blend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paper: The Volume Dividend (docx/pdf) · github.com/herrrickshaw/india-omc-fuel-fleet-model · vehicle_fuel_mileage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Volume Dividend</dc:title>
  <dc:subject>PptxGenJS Presentation</dc:subject>
  <dc:creator>india-omc-fuel-fleet-model</dc:creator>
  <cp:lastModifiedBy>india-omc-fuel-fleet-model</cp:lastModifiedBy>
  <cp:revision>1</cp:revision>
  <dcterms:created xsi:type="dcterms:W3CDTF">2026-07-28T12:14:51Z</dcterms:created>
  <dcterms:modified xsi:type="dcterms:W3CDTF">2026-07-28T12:14:51Z</dcterms:modified>
</cp:coreProperties>
</file>