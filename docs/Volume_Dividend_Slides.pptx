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MJ per litre</c:v>
                </c:pt>
              </c:strCache>
            </c:strRef>
          </c:tx>
          <c:spPr>
            <a:solidFill>
              <a:srgbClr val="1652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B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Diesel</c:v>
                  </c:pt>
                  <c:pt idx="1">
                    <c:v>B20</c:v>
                  </c:pt>
                  <c:pt idx="2">
                    <c:v>Petrol E0</c:v>
                  </c:pt>
                  <c:pt idx="3">
                    <c:v>E10</c:v>
                  </c:pt>
                  <c:pt idx="4">
                    <c:v>E20</c:v>
                  </c:pt>
                  <c:pt idx="5">
                    <c:v>E30</c:v>
                  </c:pt>
                  <c:pt idx="6">
                    <c:v>Isobutanol</c:v>
                  </c:pt>
                  <c:pt idx="7">
                    <c:v>Ethanol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35.7</c:v>
                </c:pt>
                <c:pt idx="1">
                  <c:v>35.1</c:v>
                </c:pt>
                <c:pt idx="2">
                  <c:v>32.1</c:v>
                </c:pt>
                <c:pt idx="3">
                  <c:v>31</c:v>
                </c:pt>
                <c:pt idx="4">
                  <c:v>29.9</c:v>
                </c:pt>
                <c:pt idx="5">
                  <c:v>28.8</c:v>
                </c:pt>
                <c:pt idx="6">
                  <c:v>26.5</c:v>
                </c:pt>
                <c:pt idx="7">
                  <c:v>21.1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C2B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C2B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0"/>
        <c:axPos val="l"/>
        <c:majorGridlines>
          <c:spPr>
            <a:ln w="6350" cap="flat">
              <a:solidFill>
                <a:srgbClr val="D5E0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Extra bn L/yr</c:v>
                </c:pt>
              </c:strCache>
            </c:strRef>
          </c:tx>
          <c:spPr>
            <a:solidFill>
              <a:srgbClr val="E3A7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B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E20</c:v>
                  </c:pt>
                  <c:pt idx="1">
                    <c:v>E25</c:v>
                  </c:pt>
                  <c:pt idx="2">
                    <c:v>E30</c:v>
                  </c:pt>
                  <c:pt idx="3">
                    <c:v>B7</c:v>
                  </c:pt>
                  <c:pt idx="4">
                    <c:v>B10</c:v>
                  </c:pt>
                  <c:pt idx="5">
                    <c:v>B15</c:v>
                  </c:pt>
                  <c:pt idx="6">
                    <c:v>B20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2.16</c:v>
                </c:pt>
                <c:pt idx="1">
                  <c:v>3.02</c:v>
                </c:pt>
                <c:pt idx="2">
                  <c:v>3.91</c:v>
                </c:pt>
                <c:pt idx="3">
                  <c:v>0.64</c:v>
                </c:pt>
                <c:pt idx="4">
                  <c:v>0.92</c:v>
                </c:pt>
                <c:pt idx="5">
                  <c:v>1.38</c:v>
                </c:pt>
                <c:pt idx="6">
                  <c:v>1.85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C2B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2B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E0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Embedded tax headroom</c:v>
                </c:pt>
              </c:strCache>
            </c:strRef>
          </c:tx>
          <c:spPr>
            <a:solidFill>
              <a:srgbClr val="1652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B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E20</c:v>
                  </c:pt>
                  <c:pt idx="1">
                    <c:v>E25</c:v>
                  </c:pt>
                  <c:pt idx="2">
                    <c:v>E27</c:v>
                  </c:pt>
                  <c:pt idx="3">
                    <c:v>E30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6.46</c:v>
                </c:pt>
                <c:pt idx="1">
                  <c:v>8.07</c:v>
                </c:pt>
                <c:pt idx="2">
                  <c:v>8.72</c:v>
                </c:pt>
                <c:pt idx="3">
                  <c:v>9.69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Parity discount needed</c:v>
                </c:pt>
              </c:strCache>
            </c:strRef>
          </c:tx>
          <c:spPr>
            <a:solidFill>
              <a:srgbClr val="E3A7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B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E20</c:v>
                  </c:pt>
                  <c:pt idx="1">
                    <c:v>E25</c:v>
                  </c:pt>
                  <c:pt idx="2">
                    <c:v>E27</c:v>
                  </c:pt>
                  <c:pt idx="3">
                    <c:v>E30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4.2</c:v>
                </c:pt>
                <c:pt idx="1">
                  <c:v>5.78</c:v>
                </c:pt>
                <c:pt idx="2">
                  <c:v>6.56</c:v>
                </c:pt>
                <c:pt idx="3">
                  <c:v>7.35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C2B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2B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E0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C2B27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5% ethanol SGST revenue (₹ cr/yr)</c:v>
                </c:pt>
              </c:strCache>
            </c:strRef>
          </c:tx>
          <c:spPr>
            <a:solidFill>
              <a:srgbClr val="2E9E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B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E20</c:v>
                  </c:pt>
                  <c:pt idx="1">
                    <c:v>E22</c:v>
                  </c:pt>
                  <c:pt idx="2">
                    <c:v>E25</c:v>
                  </c:pt>
                  <c:pt idx="3">
                    <c:v>E27</c:v>
                  </c:pt>
                  <c:pt idx="4">
                    <c:v>E30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3243</c:v>
                </c:pt>
                <c:pt idx="1">
                  <c:v>3662</c:v>
                </c:pt>
                <c:pt idx="2">
                  <c:v>4324</c:v>
                </c:pt>
                <c:pt idx="3">
                  <c:v>4787</c:v>
                </c:pt>
                <c:pt idx="4">
                  <c:v>5513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C2B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2B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E0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Utilisation on 2,000 cr L (today)</c:v>
                </c:pt>
              </c:strCache>
            </c:strRef>
          </c:tx>
          <c:spPr>
            <a:solidFill>
              <a:srgbClr val="1652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B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E20</c:v>
                  </c:pt>
                  <c:pt idx="1">
                    <c:v>E25</c:v>
                  </c:pt>
                  <c:pt idx="2">
                    <c:v>E27</c:v>
                  </c:pt>
                  <c:pt idx="3">
                    <c:v>E30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</c:v>
                </c:pt>
                <c:pt idx="1">
                  <c:v>85</c:v>
                </c:pt>
                <c:pt idx="2">
                  <c:v>91</c:v>
                </c:pt>
                <c:pt idx="3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On 2,400 cr L (FY27)</c:v>
                </c:pt>
              </c:strCache>
            </c:strRef>
          </c:tx>
          <c:spPr>
            <a:solidFill>
              <a:srgbClr val="2E9E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B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E20</c:v>
                  </c:pt>
                  <c:pt idx="1">
                    <c:v>E25</c:v>
                  </c:pt>
                  <c:pt idx="2">
                    <c:v>E27</c:v>
                  </c:pt>
                  <c:pt idx="3">
                    <c:v>E30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59</c:v>
                </c:pt>
                <c:pt idx="1">
                  <c:v>71</c:v>
                </c:pt>
                <c:pt idx="2">
                  <c:v>76</c:v>
                </c:pt>
                <c:pt idx="3">
                  <c:v>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C2B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2B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0"/>
        <c:axPos val="l"/>
        <c:majorGridlines>
          <c:spPr>
            <a:ln w="6350" cap="flat">
              <a:solidFill>
                <a:srgbClr val="D5E0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C2B27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Volume Dividend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822960" y="2971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Ethanol &amp; biodiesel blending, honest pump prices, state taxation — and the CBG alternative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· FY 2024-25 volumes · July 2026 prices · SIAM/ARAI FE anchor  |  repos: india-omc-fuel-fleet-model · vehicle_fuel_mileage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physics: a litre is not a litre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heating value per litre (liquids) and per kg (gases)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69494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508760"/>
            <a:ext cx="3886200" cy="4846320"/>
          </a:xfrm>
          <a:prstGeom prst="roundRect">
            <a:avLst>
              <a:gd name="adj" fmla="val 1882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01000" y="1737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per kilogram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001000" y="2103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CNG  47.5 MJ/kg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001000" y="2606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CBG  46.5 MJ/kg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001000" y="3291840"/>
            <a:ext cx="3474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Ethanol carries 34% less energy per litre than petrol; isobutanol only 17% less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ethanol blend step dilutes the litre the customer pays for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CBG at IS 16087 spec is at CNG parity per kg — pure methane is above it (50 MJ/kg)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mechanism: dilution becomes revenue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every per-litre stakeholder quietly gains from blending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4708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20% ethanol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39572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energy/litre −6.8%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27248" y="21488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429000" y="17373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84708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Mileage falls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66160" y="239572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−4% real-world (SIAM/ARAI)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07608" y="21488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309360" y="17373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84708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km, more litres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46520" y="239572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+4.2% volume through pumps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87968" y="21488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189720" y="17373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0" y="184708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Per-litre levies collect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326880" y="239572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excise ₹19.90 · VAT ~₹19.5 · dealer ₹4.1 · OMC ₹3.5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79476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₹22,703 cr</a:t>
            </a:r>
            <a:endParaRPr lang="en-US" sz="5600" dirty="0"/>
          </a:p>
        </p:txBody>
      </p:sp>
      <p:sp>
        <p:nvSpPr>
          <p:cNvPr id="20" name="Text 18"/>
          <p:cNvSpPr/>
          <p:nvPr/>
        </p:nvSpPr>
        <p:spPr>
          <a:xfrm>
            <a:off x="548640" y="48463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consumer fuel spend per year at E20 from the volume effect alone 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an unchanged price per litre. The pump board never shows it.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75120" y="3794760"/>
            <a:ext cx="4983480" cy="2148840"/>
          </a:xfrm>
          <a:prstGeom prst="roundRect">
            <a:avLst>
              <a:gd name="adj" fmla="val 3404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402336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 km/L hatchback buys +21 L/yr ≈ ₹2,188/yr extra on E20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levy of 4.2% on every km driven — regressive, invisible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FY23 ₹2/L penalty on unblended petrol widens the gap further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collects the E20 volume dividend today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crore per year on the 54-billion-litre petrol pool (2.16 bn extra litres)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5564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₹4,303 cr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85800" y="245059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— excise ₹19.90/L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37560" y="16459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75564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₹4,216 cr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474720" y="245059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— VAT ~₹19.5/L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6459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175564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3A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₹886 cr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263640" y="245059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Dealers — commission ₹4.1/L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15400" y="16459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0" y="175564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3A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₹757 cr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052560" y="245059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OMCs — margin ₹3.5/L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10972800" cy="1371600"/>
          </a:xfrm>
          <a:prstGeom prst="roundRect">
            <a:avLst>
              <a:gd name="adj" fmla="val 5333"/>
            </a:avLst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6118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Paid entirely by the consumer:  ₹22,703 cr/yr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22960" y="41605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exchequer + trade gain IS the consumer's loss, litre for litre. This is additive to the separate substitution effect (states forgo VAT on the ethanol fraction).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12064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commission and OMC margin are volume-linked — network economics quietly improve as blends rise (per-RO throughput has been falling on network dilution; blending offsets it)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OMC-margin figure reconciles exactly with the OMC retail-profitability model (₹757 cr at E20)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Blending more: E25/E30 and diesel B10–B20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litres pulled through pumps for the same distance (bn L/yr)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67665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508760"/>
            <a:ext cx="4069080" cy="4846320"/>
          </a:xfrm>
          <a:prstGeom prst="roundRect">
            <a:avLst>
              <a:gd name="adj" fmla="val 1798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1812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E20→E30 walk (vs today)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818120" y="2148840"/>
            <a:ext cx="36118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E30 adds +1.75 bn L/yr beyond E20: +₹18,300 cr consumer, +₹6,900 cr excise+VAT, +₹715 cr dealer commission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Engines are calibrated for E20 — the octane-recovery offset is spent; E25–E30 pass through closer to raw energy loss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pool is 2× petrol: B20 pulls 1.85 bn L despite only −1.7% dilution; cost lands on freight &amp; inflation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check: biodiesel was &lt;1% in FY24-25; NBP targets B5 by 2030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consumer: parity prices that give the mileage back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pricing rule  P(blend) = P(E0) × (1 − mileage drop)   ·   petrol at ₹105/L today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288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E20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22402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₹100.80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685800" y="3017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−₹4.20/L · 4.0% drop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29000" y="16916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8288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E25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566160" y="22402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₹99.22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3566160" y="3017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−₹5.78/L · 5.5% drop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09360" y="16916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8288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E27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46520" y="22402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₹98.44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6446520" y="3017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−₹6.56/L · 6.25% drop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46520" y="3429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sweet spot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89720" y="16916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0" y="18288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E30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326880" y="22402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₹97.65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9326880" y="3017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−₹7.35/L · 7.0% drop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4389120"/>
            <a:ext cx="10972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parity-priced blend makes cost-per-km identical to unblended petrol — the consumer is made whole, the pump board tells the truth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Restores the consumer's ₹22,700–41,000 cr/yr; the hatchback owner gets the ₹2,188/yr back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E27 mirrors Brazil's ceiling for non-flex engines — the highest blend today's fleet tolerates as E20+ vehicles diffuse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government: parity is already funded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₹/L per blended litre — tax break embedded in the blend vs the discount parity needs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67665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508760"/>
            <a:ext cx="4069080" cy="4846320"/>
          </a:xfrm>
          <a:prstGeom prst="roundRect">
            <a:avLst>
              <a:gd name="adj" fmla="val 1798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1812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scenarios tested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818120" y="2148840"/>
            <a:ext cx="36118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pass-through (works, 1.3–1.5×): the ethanol molecule escapes excise + VAT, pays only 5% GST — ₹6.5–9.7/L already sits in the price build-up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S2/S3 duty cuts: possible but costs centre/states ₹22,700–41,000 cr/yr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cheaper ethanol: FAILS — needs ₹37–41/L vs ₹57.97 cheapest feedstock slab; grain mandi prices set the floor (maize slab ₹71.86 is the E30 marginal source)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subsidy in S1 — it only stops a windfall the blend walk creates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Introduce a state SGST on ethanol — price-neutral new revenue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lose petrol VAT on every ethanol litre; a 1–5% ethanol SGST claws it back inside the fiscal space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7665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600200"/>
            <a:ext cx="4069080" cy="4663440"/>
          </a:xfrm>
          <a:prstGeom prst="roundRect">
            <a:avLst>
              <a:gd name="adj" fmla="val 1798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18120" y="1828800"/>
            <a:ext cx="36118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sets the recovery %, blend sets the ₹: 5% recovers ~18% of foregone petrol-VAT at any blend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5% levy costs ₹3.0–3.4/L of ethanol — fits inside the ₹7–15/L fiscal space at every blend, so the pump price never moves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rises on both axes: E20→E30 grows the ethanol base 50%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spot: E27 @ 5% ≈ ₹4,787 cr/yr of new state revenue at zero consumer cost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grand bargain: blend more, charge less, tax smarter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E27 with parity pricing + 5% ethanol SGST — everyone still fits inside the embedded headroom (₹/L of blended petrol)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949440" cy="3017520"/>
          </a:xfrm>
          <a:prstGeom prst="roundRect">
            <a:avLst>
              <a:gd name="adj" fmla="val 2424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74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headroom at E27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703320" y="1929384"/>
            <a:ext cx="3348899" cy="347472"/>
          </a:xfrm>
          <a:prstGeom prst="rect">
            <a:avLst/>
          </a:prstGeom>
          <a:solidFill>
            <a:srgbClr val="16523F"/>
          </a:solidFill>
          <a:ln/>
        </p:spPr>
      </p:sp>
      <p:sp>
        <p:nvSpPr>
          <p:cNvPr id="7" name="Text 5"/>
          <p:cNvSpPr/>
          <p:nvPr/>
        </p:nvSpPr>
        <p:spPr>
          <a:xfrm>
            <a:off x="7143659" y="1874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5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+₹8.72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parity discount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703320" y="2615184"/>
            <a:ext cx="2519355" cy="3474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6314115" y="25603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−₹6.56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246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States: 5% ethanol SGST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703320" y="3300984"/>
            <a:ext cx="341803" cy="347472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13" name="Text 11"/>
          <p:cNvSpPr/>
          <p:nvPr/>
        </p:nvSpPr>
        <p:spPr>
          <a:xfrm>
            <a:off x="4136563" y="32461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−₹0.89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3931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remaining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703320" y="3986784"/>
            <a:ext cx="487741" cy="347472"/>
          </a:xfrm>
          <a:prstGeom prst="rect">
            <a:avLst/>
          </a:prstGeom>
          <a:solidFill>
            <a:srgbClr val="E3A72F"/>
          </a:solidFill>
          <a:ln/>
        </p:spPr>
      </p:sp>
      <p:sp>
        <p:nvSpPr>
          <p:cNvPr id="16" name="Text 14"/>
          <p:cNvSpPr/>
          <p:nvPr/>
        </p:nvSpPr>
        <p:spPr>
          <a:xfrm>
            <a:off x="4282501" y="3931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+₹1.27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489204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Consumer: ₹98.44/L and honest cost-per-km  ·  States: +₹4,787 cr/yr SGST  ·  Centre: keeps full excise on a bigger blended pool  ·  Farmers: 35% more ethanol offtake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772400" y="1645920"/>
            <a:ext cx="3886200" cy="4800600"/>
          </a:xfrm>
          <a:prstGeom prst="roundRect">
            <a:avLst>
              <a:gd name="adj" fmla="val 1882"/>
            </a:avLst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01000" y="1828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let CBG do the gas side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001000" y="2286000"/>
            <a:ext cx="34290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8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MJ via SATAT CBG: ₹1.16 vs ethanol's ₹2.94 — 2.5× cheaper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8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per kg at CNG parity: zero mileage loss, zero hidden levy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8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CBO at 5% moves the CNG pump just ₹0.59/kg (~0.8%), mileage −0.1%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8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Undercuts imported LNG above ~$14.8/MMBtu; subsidy sits on-budget (SATAT + GOBARdhan), not in the fuel gauge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check: higher blends CURE the distillery overcapacity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utilisation = (fuel + non-fuel ethanol demand) ÷ capacity · CareEdge Ratings May-2026 supply data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67665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508760"/>
            <a:ext cx="4069080" cy="4846320"/>
          </a:xfrm>
          <a:prstGeom prst="roundRect">
            <a:avLst>
              <a:gd name="adj" fmla="val 1798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18120" y="1737360"/>
            <a:ext cx="36118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~2,000 cr L (+400 by FY27); at E20 only ~60% of offered ethanol is absorbed — CareEdge sees 65–75% utilisation for 3 years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E27 lifts utilisation to 76% — top of the band, absorbs Maharashtra's +277 cr L surplus, zero new construction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Coop-mill scheme ≠ capacity: of ₹10,005 cr NCDC gave 56 mills, 96.5% is working capital; the ₹251 cr ethanol tranche ≈ 9.7 cr L/yr (0.5% of installed)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FCI rice leg ~211 cr L (3.9 blend pts, Jul-2023 suspension risk) — the E27/E30 increment rides on open-market maize, the dearest slab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Demand-grown E30 (FY31, 2,173 cr L) hits ~104% — only then does the 4,530 cr L DFPD sanction register need to build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RON95 dividend: octane the consumer never sees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 = knock resistance (regular petrol 91, premium 95) · ethanol blending RON ~112 · BOB = the petrol base before blending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97280" cy="512064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600200"/>
            <a:ext cx="950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737360" y="1600200"/>
            <a:ext cx="2743200" cy="512064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10512" y="1600200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needed if pump stays RON 91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0" y="1600200"/>
            <a:ext cx="2743200" cy="512064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5152" y="1600200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RON if BOB stays 91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06640" y="1600200"/>
            <a:ext cx="1554480" cy="512064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79792" y="1600200"/>
            <a:ext cx="1408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Octane credit ₹/L*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167128"/>
            <a:ext cx="1097280" cy="512064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167128"/>
            <a:ext cx="950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737360" y="2167128"/>
            <a:ext cx="2743200" cy="512064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10512" y="2167128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88.7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0" y="2167128"/>
            <a:ext cx="2743200" cy="512064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5152" y="2167128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93.1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406640" y="2167128"/>
            <a:ext cx="1554480" cy="512064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79792" y="2167128"/>
            <a:ext cx="1408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2734056"/>
            <a:ext cx="10972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2734056"/>
            <a:ext cx="950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737360" y="2734056"/>
            <a:ext cx="27432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10512" y="2734056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85.7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0" y="2734056"/>
            <a:ext cx="27432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45152" y="2734056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95.2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406640" y="2734056"/>
            <a:ext cx="15544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79792" y="2734056"/>
            <a:ext cx="1408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3300984"/>
            <a:ext cx="1097280" cy="512064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300984"/>
            <a:ext cx="950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E25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737360" y="3300984"/>
            <a:ext cx="2743200" cy="512064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10512" y="3300984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84.0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0" y="3300984"/>
            <a:ext cx="2743200" cy="512064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45152" y="3300984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96.2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406640" y="3300984"/>
            <a:ext cx="1554480" cy="512064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79792" y="3300984"/>
            <a:ext cx="1408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11.8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" y="3867912"/>
            <a:ext cx="10972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" y="3867912"/>
            <a:ext cx="950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E27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1737360" y="3867912"/>
            <a:ext cx="27432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10512" y="3867912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83.2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572000" y="3867912"/>
            <a:ext cx="27432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45152" y="3867912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96.7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7406640" y="3867912"/>
            <a:ext cx="15544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79792" y="3867912"/>
            <a:ext cx="1408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12.8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48640" y="4434840"/>
            <a:ext cx="1097280" cy="512064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" y="4434840"/>
            <a:ext cx="950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E30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1737360" y="4434840"/>
            <a:ext cx="2743200" cy="512064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10512" y="4434840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82.0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572000" y="4434840"/>
            <a:ext cx="2743200" cy="512064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45152" y="4434840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97.3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7406640" y="4434840"/>
            <a:ext cx="1554480" cy="512064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79792" y="4434840"/>
            <a:ext cx="1408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14.2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48640" y="51206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*valued at the retail XP95 spread (~₹2.25/RON point) — a willingness-to-pay ceiling; refining cost is lower (₹0.3–0.8/L per 4–5 points)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9235440" y="1600200"/>
            <a:ext cx="2423160" cy="3383280"/>
          </a:xfrm>
          <a:prstGeom prst="roundRect">
            <a:avLst>
              <a:gd name="adj" fmla="val 3019"/>
            </a:avLst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418320" y="178308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E20 penalty on a RON95-calibrated engine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9418320" y="25603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3A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−1.8%</a:t>
            </a:r>
            <a:endParaRPr lang="en-US" sz="4000" dirty="0"/>
          </a:p>
        </p:txBody>
      </p:sp>
      <p:sp>
        <p:nvSpPr>
          <p:cNvPr id="56" name="Text 54"/>
          <p:cNvSpPr/>
          <p:nvPr/>
        </p:nvSpPr>
        <p:spPr>
          <a:xfrm>
            <a:off x="9418320" y="34290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−4% energy +2.2% from CR 10.5→12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48640" y="562356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India blends to pump RON 91 → refiners quietly drop the blendstock to 85.7 and keep the saving. Holding the blendstock at 91 instead makes E20 a FREE national RON95 fuel — Brazil's E27 playbook: parity pricing compensates today's fleet, RON95 + high-compression E20+ engines erase the penalty as the fleet turns over (~2.9 cr new vehicles/yr)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honest blending policy looks like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515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blends for parity: E20 at ₹100.80, stepping to ₹98.44 at E27 — funded by passing through the tax break already embedded (1.3–1.5× coverage; no new subsidy)</a:t>
            </a:r>
            <a:endParaRPr lang="en-US" sz="17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states a 1–5% SGST on ethanol — up to ₹4,787 cr/yr at E27, price-neutral, ending their structural objection to higher blends</a:t>
            </a:r>
            <a:endParaRPr lang="en-US" sz="17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blend E20 → E27 with the fleet, not ahead of it (Brazil precedent); label pumps with energy content, not just blend %</a:t>
            </a:r>
            <a:endParaRPr lang="en-US" sz="17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E20+ as RON95 (hold the blendstock at 91) — the free octane lets high-compression engines shrink the mileage penalty to ~−1.8% as the fleet turns over</a:t>
            </a:r>
            <a:endParaRPr lang="en-US" sz="17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diesel at B5–B7 until supply and OEM warranties mature — the pool is too big for silent dilution</a:t>
            </a:r>
            <a:endParaRPr lang="en-US" sz="17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CBG on the gas side: CNG-parity energy per kg means decarbonisation with no volume dividend to hide — the fiscally honest blend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paper: The Volume Dividend (docx/pdf) · github.com/herrrickshaw/india-omc-fuel-fleet-model · vehicle_fuel_mileage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Volume Dividend</dc:title>
  <dc:subject>PptxGenJS Presentation</dc:subject>
  <dc:creator>india-omc-fuel-fleet-model</dc:creator>
  <cp:lastModifiedBy>india-omc-fuel-fleet-model</cp:lastModifiedBy>
  <cp:revision>1</cp:revision>
  <dcterms:created xsi:type="dcterms:W3CDTF">2026-07-28T03:54:00Z</dcterms:created>
  <dcterms:modified xsi:type="dcterms:W3CDTF">2026-07-28T03:54:00Z</dcterms:modified>
</cp:coreProperties>
</file>